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975" r:id="rId4"/>
    <p:sldMasterId id="2147483957" r:id="rId5"/>
  </p:sldMasterIdLst>
  <p:notesMasterIdLst>
    <p:notesMasterId r:id="rId27"/>
  </p:notesMasterIdLst>
  <p:handoutMasterIdLst>
    <p:handoutMasterId r:id="rId28"/>
  </p:handoutMasterIdLst>
  <p:sldIdLst>
    <p:sldId id="256" r:id="rId6"/>
    <p:sldId id="281" r:id="rId7"/>
    <p:sldId id="282" r:id="rId8"/>
    <p:sldId id="294" r:id="rId9"/>
    <p:sldId id="295" r:id="rId10"/>
    <p:sldId id="289" r:id="rId11"/>
    <p:sldId id="284" r:id="rId12"/>
    <p:sldId id="296" r:id="rId13"/>
    <p:sldId id="285" r:id="rId14"/>
    <p:sldId id="297" r:id="rId15"/>
    <p:sldId id="298" r:id="rId16"/>
    <p:sldId id="299" r:id="rId17"/>
    <p:sldId id="300" r:id="rId18"/>
    <p:sldId id="301" r:id="rId19"/>
    <p:sldId id="304" r:id="rId20"/>
    <p:sldId id="305" r:id="rId21"/>
    <p:sldId id="306" r:id="rId22"/>
    <p:sldId id="307" r:id="rId23"/>
    <p:sldId id="290" r:id="rId24"/>
    <p:sldId id="303" r:id="rId25"/>
    <p:sldId id="265" r:id="rId26"/>
  </p:sldIdLst>
  <p:sldSz cx="12192000" cy="6858000"/>
  <p:notesSz cx="9144000" cy="6858000"/>
  <p:embeddedFontLst>
    <p:embeddedFont>
      <p:font typeface="AVEMO" panose="020B0604020202020204" charset="0"/>
      <p:regular r:id="rId29"/>
    </p:embeddedFont>
    <p:embeddedFont>
      <p:font typeface="AVEMO Bold" panose="020B0604020202020204" charset="0"/>
      <p:bold r:id="rId30"/>
    </p:embeddedFont>
    <p:embeddedFont>
      <p:font typeface="AVEMO Light" panose="020B0604020202020204" charset="0"/>
      <p:regular r:id="rId31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CDA"/>
    <a:srgbClr val="EEEBE9"/>
    <a:srgbClr val="000000"/>
    <a:srgbClr val="0E3A2F"/>
    <a:srgbClr val="FFFFFF"/>
    <a:srgbClr val="00B0F0"/>
    <a:srgbClr val="4BA82E"/>
    <a:srgbClr val="BB0A30"/>
    <a:srgbClr val="D9D9D9"/>
    <a:srgbClr val="001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91" autoAdjust="0"/>
    <p:restoredTop sz="97386" autoAdjust="0"/>
  </p:normalViewPr>
  <p:slideViewPr>
    <p:cSldViewPr snapToGrid="0">
      <p:cViewPr varScale="1">
        <p:scale>
          <a:sx n="111" d="100"/>
          <a:sy n="111" d="100"/>
        </p:scale>
        <p:origin x="1110" y="96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56" d="100"/>
          <a:sy n="156" d="100"/>
        </p:scale>
        <p:origin x="3078" y="1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4BC8DE8-E8AD-45BF-94C5-2FDE51ED1A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BB72358-734E-46E3-A974-4021B62F61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 dirty="0"/>
              <a:t>Datum: </a:t>
            </a:r>
            <a:fld id="{6E3C201F-EC28-440D-BEE8-58EC994345AD}" type="datetimeFigureOut">
              <a:rPr lang="de-DE" smtClean="0"/>
              <a:t>20.01.2026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7FB46D8-56D5-4673-ADC6-DB896DEE65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D412E4-0D41-42D1-9BB9-B1D8481DC8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61631" y="6513910"/>
            <a:ext cx="1020738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de-DE" dirty="0"/>
              <a:t>Seite: </a:t>
            </a:r>
            <a:fld id="{707A7F6E-B58B-4A8E-96F1-DAE745C27B86}" type="slidenum">
              <a:rPr lang="de-DE" smtClean="0"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6BB541C-0AAB-0A43-A2CE-0206376A3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754" y="6457431"/>
            <a:ext cx="1221246" cy="40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43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r>
              <a:rPr lang="de-DE" dirty="0"/>
              <a:t>Datum: </a:t>
            </a:r>
            <a:fld id="{6DF17228-283C-4419-B24D-F1F85A990126}" type="datetimeFigureOut">
              <a:rPr lang="de-DE" smtClean="0"/>
              <a:pPr/>
              <a:t>20.01.2026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81012" y="6513910"/>
            <a:ext cx="98197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</a:defRPr>
            </a:lvl1pPr>
          </a:lstStyle>
          <a:p>
            <a:r>
              <a:rPr lang="de-DE" dirty="0"/>
              <a:t>Seite </a:t>
            </a:r>
            <a:fld id="{271EA647-C215-47F1-B708-C733817E674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39CBEE3-8552-C067-2A64-157BC1B5B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850" y="6474228"/>
            <a:ext cx="1170034" cy="3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24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AVEMO" pitchFamily="50" charset="0"/>
      <a:buChar char="↗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28650" indent="-171450" algn="l" defTabSz="914400" rtl="0" eaLnBrk="1" latinLnBrk="0" hangingPunct="1">
      <a:buFont typeface="AVEMO" pitchFamily="50" charset="0"/>
      <a:buChar char="↗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085850" indent="-171450" algn="l" defTabSz="914400" rtl="0" eaLnBrk="1" latinLnBrk="0" hangingPunct="1">
      <a:buFont typeface="AVEMO" pitchFamily="50" charset="0"/>
      <a:buChar char="↗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543050" indent="-171450" algn="l" defTabSz="914400" rtl="0" eaLnBrk="1" latinLnBrk="0" hangingPunct="1">
      <a:buFont typeface="AVEMO" pitchFamily="50" charset="0"/>
      <a:buChar char="↗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000250" indent="-171450" algn="l" defTabSz="914400" rtl="0" eaLnBrk="1" latinLnBrk="0" hangingPunct="1">
      <a:buFont typeface="AVEMO" pitchFamily="50" charset="0"/>
      <a:buChar char="↗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219A8-2834-467F-B0D7-02A3C151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524" y="1341438"/>
            <a:ext cx="8639649" cy="1516822"/>
          </a:xfrm>
          <a:noFill/>
        </p:spPr>
        <p:txBody>
          <a:bodyPr anchor="t"/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068194-73E0-47F7-B6E5-DA802574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24" y="2858260"/>
            <a:ext cx="8639649" cy="375000"/>
          </a:xfrm>
        </p:spPr>
        <p:txBody>
          <a:bodyPr anchor="ctr">
            <a:noAutofit/>
          </a:bodyPr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EB57540-D754-4DB3-8D17-16E6D22E8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3429000"/>
            <a:ext cx="8639175" cy="401637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dirty="0"/>
              <a:t>TT.MM.JJJJ, Abteilung</a:t>
            </a:r>
          </a:p>
        </p:txBody>
      </p:sp>
      <p:sp>
        <p:nvSpPr>
          <p:cNvPr id="4" name="Textplatzhalter 24">
            <a:extLst>
              <a:ext uri="{FF2B5EF4-FFF2-40B4-BE49-F238E27FC236}">
                <a16:creationId xmlns:a16="http://schemas.microsoft.com/office/drawing/2014/main" id="{5769A174-8147-0088-B651-2E9AA987D1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830637"/>
            <a:ext cx="8639175" cy="28109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Informationsklassifizierung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8B010A6-15B3-DC08-37CB-CCAEDF76E1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79735" y="6144138"/>
            <a:ext cx="3237073" cy="7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2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4">
            <a:extLst>
              <a:ext uri="{FF2B5EF4-FFF2-40B4-BE49-F238E27FC236}">
                <a16:creationId xmlns:a16="http://schemas.microsoft.com/office/drawing/2014/main" id="{56D45C53-F129-738D-D6BE-08888CC8E0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725" y="152400"/>
            <a:ext cx="11512550" cy="60134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61219A8-2834-467F-B0D7-02A3C151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524" y="1341437"/>
            <a:ext cx="8639649" cy="2935991"/>
          </a:xfrm>
          <a:prstGeom prst="roundRect">
            <a:avLst/>
          </a:prstGeom>
          <a:solidFill>
            <a:srgbClr val="E3DCDA">
              <a:alpha val="69804"/>
            </a:srgbClr>
          </a:solidFill>
        </p:spPr>
        <p:txBody>
          <a:bodyPr anchor="t"/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068194-73E0-47F7-B6E5-DA802574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222" y="3088091"/>
            <a:ext cx="8473952" cy="340909"/>
          </a:xfrm>
        </p:spPr>
        <p:txBody>
          <a:bodyPr anchor="ctr">
            <a:noAutofit/>
          </a:bodyPr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EB57540-D754-4DB3-8D17-16E6D22E8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632" y="3429000"/>
            <a:ext cx="8455541" cy="401637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dirty="0"/>
              <a:t>TT.MM.JJJJ, Abteilung</a:t>
            </a:r>
          </a:p>
        </p:txBody>
      </p:sp>
      <p:sp>
        <p:nvSpPr>
          <p:cNvPr id="5" name="Textplatzhalter 24">
            <a:extLst>
              <a:ext uri="{FF2B5EF4-FFF2-40B4-BE49-F238E27FC236}">
                <a16:creationId xmlns:a16="http://schemas.microsoft.com/office/drawing/2014/main" id="{48A8A3C2-7A9E-CD94-4C8A-2BFA24B1BD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597" y="3830637"/>
            <a:ext cx="8455541" cy="28109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Informationsklassifizierung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0E411A6-F475-ECC8-A356-B3BAA53CE8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79735" y="6144138"/>
            <a:ext cx="3237073" cy="7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C80B70-BCDD-4259-B6DD-32A44D782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381" y="1338349"/>
            <a:ext cx="11516811" cy="456368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 marL="685800" indent="-228600">
              <a:buFont typeface="AVEMO" pitchFamily="50" charset="0"/>
              <a:buChar char="↗"/>
              <a:defRPr sz="1600"/>
            </a:lvl2pPr>
            <a:lvl3pPr marL="1143000" indent="-228600">
              <a:buFont typeface="AVEMO" pitchFamily="50" charset="0"/>
              <a:buChar char="↗"/>
              <a:defRPr sz="1400"/>
            </a:lvl3pPr>
            <a:lvl4pPr marL="1522413" indent="-163513">
              <a:buFont typeface="AVEMO" pitchFamily="50" charset="0"/>
              <a:buChar char="↗"/>
              <a:defRPr sz="1400"/>
            </a:lvl4pPr>
            <a:lvl5pPr marL="1976438" indent="-173038">
              <a:buFont typeface="AVEMO" pitchFamily="50" charset="0"/>
              <a:buChar char="↗"/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C4C5392-952A-450B-A7E6-B109E292E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36A90F98-49BC-4D1A-16EB-C0115C097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FFCCFD63-08D3-76D0-2FCE-D94D41E1E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20D8C5F-A81F-CAD0-2372-600868049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976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DABDF-5AEA-4220-A2D2-7EB0A63A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24" y="1709738"/>
            <a:ext cx="8631800" cy="2852737"/>
          </a:xfrm>
          <a:prstGeom prst="roundRect">
            <a:avLst/>
          </a:prstGeom>
          <a:solidFill>
            <a:schemeClr val="bg2"/>
          </a:solidFill>
        </p:spPr>
        <p:txBody>
          <a:bodyPr anchor="b"/>
          <a:lstStyle>
            <a:lvl1pPr>
              <a:defRPr sz="4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A77732-EFD1-4B9F-8A12-43079CA8D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954" y="4562164"/>
            <a:ext cx="8474234" cy="13176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39398B-F532-4BA4-80E0-0DD506F8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D2CF50-ED78-4E1D-B1A1-53887BAB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JobCar bei AVEMO Fleet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EDFBC0-60B9-47F5-B89C-36613D9D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7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DABDF-5AEA-4220-A2D2-7EB0A63A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24" y="1709738"/>
            <a:ext cx="8631800" cy="2852737"/>
          </a:xfrm>
          <a:noFill/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A77732-EFD1-4B9F-8A12-43079CA8D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524" y="4589463"/>
            <a:ext cx="8631800" cy="13176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328F2A-C58D-FE29-94A4-C160718FB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FFB8F3-8640-56A2-FB3D-A802F6DBE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A9D7B5-4A42-63FB-681E-70DA63F7B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287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381" y="1363287"/>
            <a:ext cx="7870786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0466" y="1363287"/>
            <a:ext cx="3588152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797126F-EF12-4F45-8C36-E1E8AE86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907B3E9B-DEFA-4B43-046C-60D71125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56B92986-7928-E430-AC49-5BB610FD9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335102F6-403A-4C92-7804-D1E3A8552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033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381" y="1363287"/>
            <a:ext cx="6744184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3311" y="1363287"/>
            <a:ext cx="4645307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16D95ED2-63C5-48F8-888E-9BB045A6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442DE47-BB77-7FFC-9368-9AEC5799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9F5ACF8-2A3C-4C2C-C6DE-5E846C2F2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7CCC9425-3827-C425-F821-7BF733F02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984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381" y="1363287"/>
            <a:ext cx="5676419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363287"/>
            <a:ext cx="5676419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1D8E8E6A-3F3F-4DE9-BADA-B993E3A7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5C20FA31-5103-14CD-3D80-6894CAB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62A7EC1A-060C-43ED-C1C1-BA2ECE5EF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E756D4F8-A0B4-A9C8-35CD-BC4D9FCAC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0369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6008" y="1363287"/>
            <a:ext cx="6744184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381" y="1363287"/>
            <a:ext cx="4645307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2A1359A-40FE-4ACA-BC8F-619B8D6B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F658C3ED-C9C1-6AA7-0961-A9B0F1AE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ADF00093-E23D-5D1D-E692-BF2D8A3B1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FB59BD4A-2C04-C56B-26F0-3BDBCC63A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727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89406" y="1363287"/>
            <a:ext cx="7870786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381" y="1363287"/>
            <a:ext cx="3588152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8376793-F23D-4860-B19F-49CC8838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1B1133EA-4744-9E82-22E6-CFDECFC6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4C9340CE-3942-7536-8BA9-DA5E4D22C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97D8022B-2000-3C2F-7E5E-FD72B6A3D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209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20A3FB1-552E-4FEB-9E6D-96D7C39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94CB7A23-9DFC-0C90-D862-E022A47181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623E3C73-6BB7-4DDF-E806-14092282A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26E6CF-8B89-F872-2FB5-A769B858A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946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(mit Bil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BCB09031-508E-40D3-82E2-49FCA9FC5A8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725" y="193675"/>
            <a:ext cx="11512550" cy="53927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2DA2653-A6FE-4899-9E7D-79A0E958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1CF890B-4FC9-44D1-BDD2-FD6993F59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A037E956-64E8-5BA3-F3D2-E91558D2B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70A75429-69AE-0954-BA70-F52B9994C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635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E03655FF-8AC0-A2EE-607E-F1FDE8E50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41C9518D-4466-4EEA-4CC3-BB32DA503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AAC59FBB-DAE8-DEEA-D2BA-C96155387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487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0D84C9F5-CA0C-4FEE-98DE-C5365DFB65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725" y="193675"/>
            <a:ext cx="11512550" cy="539273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F7316A28-AA64-32D8-3C59-450826D87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309CDDE0-30DD-4A75-EBBF-476007595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E41E2D6F-C9EA-647D-FF64-8657211B5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474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5B0481-8DB7-4AFC-BAFD-E72B9D813C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3381" y="1355611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04C0C110-D235-4260-9749-26B01E9457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03538" y="1355611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5" name="Bildplatzhalter 5">
            <a:extLst>
              <a:ext uri="{FF2B5EF4-FFF2-40B4-BE49-F238E27FC236}">
                <a16:creationId xmlns:a16="http://schemas.microsoft.com/office/drawing/2014/main" id="{761611F4-6473-4130-BC68-C6604B7389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3696" y="1355611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6" name="Bildplatzhalter 5">
            <a:extLst>
              <a:ext uri="{FF2B5EF4-FFF2-40B4-BE49-F238E27FC236}">
                <a16:creationId xmlns:a16="http://schemas.microsoft.com/office/drawing/2014/main" id="{AF70AD7A-77AD-4E4E-97D8-A0AE0A6617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3381" y="3491138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7" name="Bildplatzhalter 5">
            <a:extLst>
              <a:ext uri="{FF2B5EF4-FFF2-40B4-BE49-F238E27FC236}">
                <a16:creationId xmlns:a16="http://schemas.microsoft.com/office/drawing/2014/main" id="{A2EBC0CC-D0A9-4455-B6A2-D5EA3936DF3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03538" y="3491139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9FEBBB28-7F34-4870-8BA6-732B99E4179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63696" y="3491140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35FC9B6E-CE32-446B-B613-EB48B3F4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127DBCFC-D0D7-C281-3553-AEED11A76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56AF2143-7086-8C99-9A9A-A460EB15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B9C72E81-3102-D667-200C-F6B129550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63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046ADC2B-F686-4396-820B-0C76CFF6289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17433" y="1806457"/>
            <a:ext cx="3178567" cy="2077664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4A69977-6765-4D74-8423-0CF60521B4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66702" y="1806457"/>
            <a:ext cx="2514154" cy="37925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C838598D-EBC4-4C6A-BC18-8F290ECEFCA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858938" y="4012710"/>
            <a:ext cx="2237062" cy="1586307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AF6E3F04-ED28-4460-AD16-FCE3B6C99D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8200" y="4012711"/>
            <a:ext cx="2750036" cy="1586307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094C965-E90E-4BB0-B0BC-FC8CEAF709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51938" y="1806575"/>
            <a:ext cx="2708275" cy="37925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1C97B958-7288-45CA-A8D0-27BD18B3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5DF1AFD-6C3C-4D32-5618-DAD5EF713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E7B54C14-251D-F7B5-A7AD-0C0903400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410B712B-35F9-09A8-5B74-CDA9BE1C3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684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bo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D9C25A9-59D0-4152-9030-E3FDE1287C8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6528" y="0"/>
            <a:ext cx="4090470" cy="5660967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0A42E8A7-1260-4CF1-AC32-36DD594241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5002" y="0"/>
            <a:ext cx="3522014" cy="3213926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B2CC6665-748C-4E2E-816C-1EE428DA8DD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5235" y="3213926"/>
            <a:ext cx="4767351" cy="2454681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E96D9CD7-6C43-466A-99DF-27A6D007357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758192" y="3210210"/>
            <a:ext cx="3338336" cy="2454681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516D22D4-32CE-4F8F-AE46-73F0BE68C30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517012" y="1858"/>
            <a:ext cx="4579516" cy="3213926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8CC4AF90-45F4-06C7-8075-575B7FDE3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4ACC1FB8-371C-BE79-67B4-2A5A2F60F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8" name="Foliennummernplatzhalter 5">
            <a:extLst>
              <a:ext uri="{FF2B5EF4-FFF2-40B4-BE49-F238E27FC236}">
                <a16:creationId xmlns:a16="http://schemas.microsoft.com/office/drawing/2014/main" id="{8050DC55-10AE-3222-B0CE-42FD85167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808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219A8-2834-467F-B0D7-02A3C151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524" y="1341438"/>
            <a:ext cx="8639649" cy="1516822"/>
          </a:xfrm>
          <a:noFill/>
        </p:spPr>
        <p:txBody>
          <a:bodyPr anchor="t"/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068194-73E0-47F7-B6E5-DA802574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24" y="2858260"/>
            <a:ext cx="8639649" cy="375000"/>
          </a:xfrm>
        </p:spPr>
        <p:txBody>
          <a:bodyPr anchor="ctr">
            <a:noAutofit/>
          </a:bodyPr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EB57540-D754-4DB3-8D17-16E6D22E8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3429000"/>
            <a:ext cx="8639175" cy="401637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dirty="0"/>
              <a:t>TT.MM.JJJJ, Abteilung</a:t>
            </a:r>
          </a:p>
        </p:txBody>
      </p:sp>
      <p:sp>
        <p:nvSpPr>
          <p:cNvPr id="5" name="Textplatzhalter 24">
            <a:extLst>
              <a:ext uri="{FF2B5EF4-FFF2-40B4-BE49-F238E27FC236}">
                <a16:creationId xmlns:a16="http://schemas.microsoft.com/office/drawing/2014/main" id="{2C5C3B2A-451E-9942-5548-927B955746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830637"/>
            <a:ext cx="8639175" cy="28109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Informationsklassifizierung</a:t>
            </a:r>
          </a:p>
        </p:txBody>
      </p:sp>
      <p:pic>
        <p:nvPicPr>
          <p:cNvPr id="7" name="Grafik 6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08F9D86C-E8A7-1E73-F2CE-3BB4CD6AE4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855" y="6144137"/>
            <a:ext cx="3237073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6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4">
            <a:extLst>
              <a:ext uri="{FF2B5EF4-FFF2-40B4-BE49-F238E27FC236}">
                <a16:creationId xmlns:a16="http://schemas.microsoft.com/office/drawing/2014/main" id="{56D45C53-F129-738D-D6BE-08888CC8E0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725" y="152400"/>
            <a:ext cx="11512550" cy="60134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61219A8-2834-467F-B0D7-02A3C1510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524" y="1341437"/>
            <a:ext cx="8639649" cy="2935991"/>
          </a:xfrm>
          <a:prstGeom prst="roundRect">
            <a:avLst/>
          </a:prstGeom>
          <a:solidFill>
            <a:schemeClr val="bg1">
              <a:alpha val="69804"/>
            </a:schemeClr>
          </a:solidFill>
        </p:spPr>
        <p:txBody>
          <a:bodyPr anchor="t"/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068194-73E0-47F7-B6E5-DA802574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222" y="3088091"/>
            <a:ext cx="8473952" cy="340909"/>
          </a:xfrm>
        </p:spPr>
        <p:txBody>
          <a:bodyPr anchor="ctr">
            <a:noAutofit/>
          </a:bodyPr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EB57540-D754-4DB3-8D17-16E6D22E8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632" y="3429000"/>
            <a:ext cx="8455541" cy="401637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dirty="0"/>
              <a:t>TT.MM.JJJJ, Abteilung</a:t>
            </a:r>
          </a:p>
        </p:txBody>
      </p:sp>
      <p:sp>
        <p:nvSpPr>
          <p:cNvPr id="8" name="Textplatzhalter 24">
            <a:extLst>
              <a:ext uri="{FF2B5EF4-FFF2-40B4-BE49-F238E27FC236}">
                <a16:creationId xmlns:a16="http://schemas.microsoft.com/office/drawing/2014/main" id="{15967948-CA47-79CA-FE7F-B2F28DAE20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597" y="3830637"/>
            <a:ext cx="8455541" cy="28109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Informationsklassifizierung</a:t>
            </a:r>
          </a:p>
        </p:txBody>
      </p:sp>
      <p:pic>
        <p:nvPicPr>
          <p:cNvPr id="7" name="Grafik 6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3A17502C-E827-4790-C08C-8AC6142E3C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855" y="6144137"/>
            <a:ext cx="3237073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017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C80B70-BCDD-4259-B6DD-32A44D782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381" y="1338349"/>
            <a:ext cx="11516811" cy="456368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 marL="685800" indent="-228600">
              <a:buFont typeface="AVEMO" pitchFamily="50" charset="0"/>
              <a:buChar char="↗"/>
              <a:defRPr sz="1600"/>
            </a:lvl2pPr>
            <a:lvl3pPr marL="1143000" indent="-228600">
              <a:buFont typeface="AVEMO" pitchFamily="50" charset="0"/>
              <a:buChar char="↗"/>
              <a:defRPr sz="1400"/>
            </a:lvl3pPr>
            <a:lvl4pPr marL="1522413" indent="-163513">
              <a:buFont typeface="AVEMO" pitchFamily="50" charset="0"/>
              <a:buChar char="↗"/>
              <a:defRPr sz="1400"/>
            </a:lvl4pPr>
            <a:lvl5pPr marL="1976438" indent="-173038">
              <a:buFont typeface="AVEMO" pitchFamily="50" charset="0"/>
              <a:buChar char="↗"/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C4C5392-952A-450B-A7E6-B109E292E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7824963F-6A38-6F63-85B7-8F723DFCB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79DE6F9A-1F41-3711-4E3D-241047C70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E021118E-2C33-C2C7-3458-40AE9B1A0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790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DABDF-5AEA-4220-A2D2-7EB0A63A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24" y="1709738"/>
            <a:ext cx="8631800" cy="2852737"/>
          </a:xfrm>
          <a:prstGeom prst="roundRect">
            <a:avLst/>
          </a:prstGeom>
          <a:solidFill>
            <a:schemeClr val="bg1"/>
          </a:solidFill>
        </p:spPr>
        <p:txBody>
          <a:bodyPr anchor="b"/>
          <a:lstStyle>
            <a:lvl1pPr>
              <a:defRPr sz="4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A77732-EFD1-4B9F-8A12-43079CA8D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954" y="4562164"/>
            <a:ext cx="8474234" cy="13176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07C1ED25-232F-DB0B-07DC-65CE61F19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3D9E7CB6-A1AE-E359-BA26-5631FE3E1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5319E98A-CCA8-036E-088C-BED9A459E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882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DABDF-5AEA-4220-A2D2-7EB0A63A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24" y="1709738"/>
            <a:ext cx="8631800" cy="2852737"/>
          </a:xfrm>
          <a:solidFill>
            <a:schemeClr val="bg2"/>
          </a:solidFill>
        </p:spPr>
        <p:txBody>
          <a:bodyPr anchor="b"/>
          <a:lstStyle>
            <a:lvl1pPr>
              <a:defRPr sz="4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A77732-EFD1-4B9F-8A12-43079CA8D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524" y="4589463"/>
            <a:ext cx="8631800" cy="13176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0BAE56A-D9A2-EC64-0426-625F12EDB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D2591F8E-566F-908C-9F6B-956DBE04A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C72D7D27-4F85-6EE4-8477-E8DF1C513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984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381" y="1363287"/>
            <a:ext cx="7870786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0466" y="1363287"/>
            <a:ext cx="3588152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797126F-EF12-4F45-8C36-E1E8AE86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3B82F695-C318-C1D1-1C3D-C99C72F6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681434DE-FD25-94AE-30EA-096EB6295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33837FFF-FC72-5C9D-FD41-9BA448E75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878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381" y="1363287"/>
            <a:ext cx="6744184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3311" y="1363287"/>
            <a:ext cx="4645307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16D95ED2-63C5-48F8-888E-9BB045A6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179E64A-B875-AD8B-6CA5-8EDB31D081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43093CA5-4F1D-0FC2-B056-F5C3BB0CA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B75300DF-3C22-2B1A-127B-D2D70F161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700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381" y="1363287"/>
            <a:ext cx="5676419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363287"/>
            <a:ext cx="5676419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1D8E8E6A-3F3F-4DE9-BADA-B993E3A7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4656EABD-A545-45C5-0A87-3B64E934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79B72D20-227C-2B68-3341-82CC1487C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5AA95537-3B42-061F-19FD-C102C6CA4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731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6008" y="1363287"/>
            <a:ext cx="6744184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381" y="1363287"/>
            <a:ext cx="4645307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2A1359A-40FE-4ACA-BC8F-619B8D6B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5A900204-5724-6425-20FF-DCC30ECC17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D52B2C0C-3943-FDBF-FA0A-350142C20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9759FE51-7C55-7BCF-A995-315403CA5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409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6D6F72-E5E0-4D97-BBD2-E88FE809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89406" y="1363287"/>
            <a:ext cx="7870786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7740B8-2AB1-4926-9ECB-B57BC97F3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381" y="1363287"/>
            <a:ext cx="3588152" cy="45636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8376793-F23D-4860-B19F-49CC8838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F969BC7-6520-1F2A-0992-8383FDBB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DD085CA1-E229-E3C6-02E4-6B9769C8A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B1156CBE-69E9-454B-77E3-73B9FE17E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152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20A3FB1-552E-4FEB-9E6D-96D7C39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C625D833-F5DE-7E7D-23CC-CB66BDE6A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8EFF40DB-8DEC-7188-66E2-5970B1085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8A1AB965-0B42-4D4D-A88C-D7331282F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590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(mit Bil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BCB09031-508E-40D3-82E2-49FCA9FC5A8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725" y="193675"/>
            <a:ext cx="11512550" cy="53927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2DA2653-A6FE-4899-9E7D-79A0E958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10CB0A90-CAC1-EB4F-8759-81E336182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C0712AE-5393-09A8-E82B-7F29BA91D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14A5E01B-B8D4-0189-0C94-1C945801B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632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2BB88249-68FE-A2DA-191E-FF55BD55C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63368B11-C1A1-B237-470D-E20CDF30C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2ACDF2C-5B1F-484E-38A4-2E836FF50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817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0D84C9F5-CA0C-4FEE-98DE-C5365DFB65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725" y="193675"/>
            <a:ext cx="11512550" cy="539273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F3FEBB18-B9B9-DCD2-6605-F832F9EF1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193A218D-7B6B-E84B-9886-20A2FA5D1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28687C3B-2078-C3EF-9CBC-69B0B7F82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817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5B0481-8DB7-4AFC-BAFD-E72B9D813C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3381" y="1355611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04C0C110-D235-4260-9749-26B01E9457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03538" y="1355611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5" name="Bildplatzhalter 5">
            <a:extLst>
              <a:ext uri="{FF2B5EF4-FFF2-40B4-BE49-F238E27FC236}">
                <a16:creationId xmlns:a16="http://schemas.microsoft.com/office/drawing/2014/main" id="{761611F4-6473-4130-BC68-C6604B7389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3696" y="1355611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6" name="Bildplatzhalter 5">
            <a:extLst>
              <a:ext uri="{FF2B5EF4-FFF2-40B4-BE49-F238E27FC236}">
                <a16:creationId xmlns:a16="http://schemas.microsoft.com/office/drawing/2014/main" id="{AF70AD7A-77AD-4E4E-97D8-A0AE0A6617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3381" y="3491138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7" name="Bildplatzhalter 5">
            <a:extLst>
              <a:ext uri="{FF2B5EF4-FFF2-40B4-BE49-F238E27FC236}">
                <a16:creationId xmlns:a16="http://schemas.microsoft.com/office/drawing/2014/main" id="{A2EBC0CC-D0A9-4455-B6A2-D5EA3936DF3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03538" y="3491139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9FEBBB28-7F34-4870-8BA6-732B99E4179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63696" y="3491140"/>
            <a:ext cx="3784923" cy="20733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35FC9B6E-CE32-446B-B613-EB48B3F4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538303D-60D3-BA34-8000-D6F86FA8A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65B49BF2-0C8F-E241-0B06-D72D22DC2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B7693F6C-738D-39ED-B0E4-A72D09A124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884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046ADC2B-F686-4396-820B-0C76CFF6289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17433" y="1806457"/>
            <a:ext cx="3178567" cy="2077664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4A69977-6765-4D74-8423-0CF60521B4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66702" y="1806457"/>
            <a:ext cx="2514154" cy="37925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C838598D-EBC4-4C6A-BC18-8F290ECEFCA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858938" y="4012710"/>
            <a:ext cx="2237062" cy="1586307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AF6E3F04-ED28-4460-AD16-FCE3B6C99D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8200" y="4012711"/>
            <a:ext cx="2750036" cy="1586307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094C965-E90E-4BB0-B0BC-FC8CEAF709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51938" y="1806575"/>
            <a:ext cx="2708275" cy="37925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1C97B958-7288-45CA-A8D0-27BD18B3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CCC43D89-4A18-201A-0DE0-ACB06182E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AA7CDCC-2A6B-3445-F737-C636EA0AB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389A6DE4-4BEE-8065-5FF0-03B8560FC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95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bo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D9C25A9-59D0-4152-9030-E3FDE1287C8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6528" y="0"/>
            <a:ext cx="4090470" cy="5660967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0A42E8A7-1260-4CF1-AC32-36DD594241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5002" y="0"/>
            <a:ext cx="3522014" cy="3213926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B2CC6665-748C-4E2E-816C-1EE428DA8DD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5235" y="3213926"/>
            <a:ext cx="4767351" cy="2454681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E96D9CD7-6C43-466A-99DF-27A6D007357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758192" y="3210210"/>
            <a:ext cx="3338336" cy="2454681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516D22D4-32CE-4F8F-AE46-73F0BE68C30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517012" y="1858"/>
            <a:ext cx="4579516" cy="3213926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72000" tIns="36000" rIns="72000" bIns="3600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endParaRPr lang="en-US" noProof="0" dirty="0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9FC195E2-1FE5-F3D4-D538-A5E562079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0AB85DB-5B4D-3241-8011-E9AC84947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CFE1B0E0-5E04-7CED-DCE7-21A7B572A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081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7D355BD-A54B-435A-92D3-27B0A562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81" y="365126"/>
            <a:ext cx="11516811" cy="856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083E1B-C0CF-495B-9528-7ECD51485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381" y="1361572"/>
            <a:ext cx="11516811" cy="4788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375B642-25B0-A35E-956D-54618AB21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47"/>
          <a:stretch/>
        </p:blipFill>
        <p:spPr>
          <a:xfrm>
            <a:off x="11420794" y="6150127"/>
            <a:ext cx="685289" cy="707873"/>
          </a:xfrm>
          <a:prstGeom prst="rect">
            <a:avLst/>
          </a:prstGeom>
        </p:spPr>
      </p:pic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0E089BB1-574A-F1FB-B982-663CC180D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380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4C640507-2F63-0396-EA05-C17A2E609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380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80051783-FB7F-A2A9-A2EA-84F1D3583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381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16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4000" r:id="rId2"/>
    <p:sldLayoutId id="2147483978" r:id="rId3"/>
    <p:sldLayoutId id="2147484002" r:id="rId4"/>
    <p:sldLayoutId id="2147483979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89" r:id="rId14"/>
    <p:sldLayoutId id="2147483990" r:id="rId15"/>
    <p:sldLayoutId id="2147483991" r:id="rId16"/>
    <p:sldLayoutId id="2147483992" r:id="rId17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VEMO" pitchFamily="50" charset="0"/>
        <a:buChar char="↗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74738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VEMO" pitchFamily="50" charset="0"/>
        <a:buChar char="↗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22413" indent="-16351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VEMO" pitchFamily="50" charset="0"/>
        <a:buChar char="↗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76438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VEMO" pitchFamily="50" charset="0"/>
        <a:buChar char="↗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32">
          <p15:clr>
            <a:srgbClr val="F26B43"/>
          </p15:clr>
        </p15:guide>
        <p15:guide id="4" orient="horz" pos="845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pos="211" userDrawn="1">
          <p15:clr>
            <a:srgbClr val="F26B43"/>
          </p15:clr>
        </p15:guide>
        <p15:guide id="7" pos="7469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orient="horz" pos="3952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orient="horz" pos="9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7D355BD-A54B-435A-92D3-27B0A562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81" y="365126"/>
            <a:ext cx="11516811" cy="856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083E1B-C0CF-495B-9528-7ECD51485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381" y="1361572"/>
            <a:ext cx="11516811" cy="478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86DECCB-DAC0-4567-4610-22ECBD69A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06"/>
          <a:stretch/>
        </p:blipFill>
        <p:spPr>
          <a:xfrm>
            <a:off x="11417060" y="6148800"/>
            <a:ext cx="685289" cy="709200"/>
          </a:xfrm>
          <a:prstGeom prst="rect">
            <a:avLst/>
          </a:prstGeom>
        </p:spPr>
      </p:pic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41F83EBC-C9FE-7AE7-9DE7-6CCD1AB6D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2" y="6471782"/>
            <a:ext cx="324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Dezember 2025, AVEMO Fleet </a:t>
            </a:r>
            <a:endParaRPr lang="de-DE" dirty="0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1BB187FC-0D09-431E-1F82-77ECFD21A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366720"/>
            <a:ext cx="4320000" cy="133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JobCar bei AVEMO Fleet</a:t>
            </a:r>
            <a:endParaRPr lang="de-DE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26286B2E-33AE-A9DF-5BEA-9B0AD6976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576845"/>
            <a:ext cx="931025" cy="133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AVEMO Light" pitchFamily="50" charset="0"/>
              </a:defRPr>
            </a:lvl1pPr>
          </a:lstStyle>
          <a:p>
            <a:r>
              <a:rPr lang="de-DE"/>
              <a:t>Seite </a:t>
            </a:r>
            <a:fld id="{675FEB3E-A872-4F32-ADA9-E6CEDBD6A0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3040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6" r:id="rId1"/>
    <p:sldLayoutId id="2147484001" r:id="rId2"/>
    <p:sldLayoutId id="2147483960" r:id="rId3"/>
    <p:sldLayoutId id="2147484003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  <p:sldLayoutId id="2147483974" r:id="rId17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VEMO" pitchFamily="50" charset="0"/>
        <a:buChar char="↗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74738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VEMO" pitchFamily="50" charset="0"/>
        <a:buChar char="↗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22413" indent="-16351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VEMO" pitchFamily="50" charset="0"/>
        <a:buChar char="↗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76438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VEMO" pitchFamily="50" charset="0"/>
        <a:buChar char="↗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32">
          <p15:clr>
            <a:srgbClr val="F26B43"/>
          </p15:clr>
        </p15:guide>
        <p15:guide id="4" orient="horz" pos="845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pos="211" userDrawn="1">
          <p15:clr>
            <a:srgbClr val="F26B43"/>
          </p15:clr>
        </p15:guide>
        <p15:guide id="7" pos="7469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orient="horz" pos="3952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orient="horz" pos="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A85D42A-2CC8-2A19-32C5-05C448D35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rgbClr val="EEEBE9"/>
          </a:solidFill>
        </p:spPr>
        <p:txBody>
          <a:bodyPr>
            <a:normAutofit/>
          </a:bodyPr>
          <a:lstStyle/>
          <a:p>
            <a:br>
              <a:rPr lang="de-DE" dirty="0"/>
            </a:br>
            <a:r>
              <a:rPr lang="de-DE" dirty="0"/>
              <a:t>Fahrersoftware</a:t>
            </a:r>
          </a:p>
        </p:txBody>
      </p:sp>
      <p:sp>
        <p:nvSpPr>
          <p:cNvPr id="9" name="Untertitel 8">
            <a:extLst>
              <a:ext uri="{FF2B5EF4-FFF2-40B4-BE49-F238E27FC236}">
                <a16:creationId xmlns:a16="http://schemas.microsoft.com/office/drawing/2014/main" id="{FDE765FC-7DEB-85F5-D10E-4D7C3DADF8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Vorstellung in der Geschäftsführerrunde</a:t>
            </a:r>
          </a:p>
        </p:txBody>
      </p:sp>
      <p:pic>
        <p:nvPicPr>
          <p:cNvPr id="4" name="Grafik 3" descr="Ein Bild, das Text, Schrift, weiß, Schwarzweiß enthält.&#10;&#10;KI-generierte Inhalte können fehlerhaft sein.">
            <a:extLst>
              <a:ext uri="{FF2B5EF4-FFF2-40B4-BE49-F238E27FC236}">
                <a16:creationId xmlns:a16="http://schemas.microsoft.com/office/drawing/2014/main" id="{F5F3EAC1-5EB3-3C0B-6E57-822CF308C1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57"/>
          <a:stretch>
            <a:fillRect/>
          </a:stretch>
        </p:blipFill>
        <p:spPr>
          <a:xfrm>
            <a:off x="0" y="6221627"/>
            <a:ext cx="5463210" cy="63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2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29D0E8C-8351-4D44-BB41-B492E987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137D43-04B9-4E17-B8A9-77A434D16D90}"/>
              </a:ext>
            </a:extLst>
          </p:cNvPr>
          <p:cNvSpPr txBox="1">
            <a:spLocks/>
          </p:cNvSpPr>
          <p:nvPr/>
        </p:nvSpPr>
        <p:spPr>
          <a:xfrm>
            <a:off x="838199" y="2312571"/>
            <a:ext cx="10515601" cy="4508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lIns="144000" tIns="36000" rIns="144000" bIns="360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38163" algn="l"/>
                <a:tab pos="8251825" algn="r"/>
              </a:tabLst>
            </a:pPr>
            <a:r>
              <a:rPr lang="de-DE" dirty="0">
                <a:solidFill>
                  <a:schemeClr val="accent1"/>
                </a:solidFill>
              </a:rPr>
              <a:t>03</a:t>
            </a:r>
            <a:r>
              <a:rPr lang="de-DE" dirty="0"/>
              <a:t>	Analyse der verschiedenen Anbieter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68101220-A028-43BD-B4A2-CFFBE8337086}"/>
              </a:ext>
            </a:extLst>
          </p:cNvPr>
          <p:cNvSpPr txBox="1">
            <a:spLocks/>
          </p:cNvSpPr>
          <p:nvPr/>
        </p:nvSpPr>
        <p:spPr>
          <a:xfrm>
            <a:off x="838199" y="2835493"/>
            <a:ext cx="10515601" cy="4508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lIns="144000" tIns="36000" rIns="144000" bIns="360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38163" algn="l"/>
                <a:tab pos="8251825" algn="r"/>
              </a:tabLst>
            </a:pPr>
            <a:r>
              <a:rPr lang="de-DE" dirty="0">
                <a:solidFill>
                  <a:schemeClr val="accent1"/>
                </a:solidFill>
              </a:rPr>
              <a:t>04</a:t>
            </a:r>
            <a:r>
              <a:rPr lang="de-DE" dirty="0"/>
              <a:t>	Highlights der Fahrersoftware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15ADCFC1-AFE8-45FE-8768-F8E468CC1B7E}"/>
              </a:ext>
            </a:extLst>
          </p:cNvPr>
          <p:cNvSpPr txBox="1">
            <a:spLocks/>
          </p:cNvSpPr>
          <p:nvPr/>
        </p:nvSpPr>
        <p:spPr>
          <a:xfrm>
            <a:off x="838199" y="3358415"/>
            <a:ext cx="10515601" cy="4508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lIns="144000" tIns="36000" rIns="144000" bIns="360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38163" algn="l"/>
                <a:tab pos="8251825" algn="r"/>
              </a:tabLst>
            </a:pPr>
            <a:r>
              <a:rPr lang="de-DE" dirty="0">
                <a:solidFill>
                  <a:schemeClr val="accent1"/>
                </a:solidFill>
              </a:rPr>
              <a:t>05</a:t>
            </a:r>
            <a:r>
              <a:rPr lang="de-DE" dirty="0"/>
              <a:t> 	Entwicklungskosten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3BC2E4A1-D346-4222-9BE7-B600E7BEBC89}"/>
              </a:ext>
            </a:extLst>
          </p:cNvPr>
          <p:cNvSpPr txBox="1">
            <a:spLocks/>
          </p:cNvSpPr>
          <p:nvPr/>
        </p:nvSpPr>
        <p:spPr>
          <a:xfrm>
            <a:off x="838199" y="3881337"/>
            <a:ext cx="10515601" cy="4508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lIns="144000" tIns="36000" rIns="144000" bIns="360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38163" algn="l"/>
                <a:tab pos="8251825" algn="r"/>
              </a:tabLst>
            </a:pPr>
            <a:r>
              <a:rPr lang="de-DE" dirty="0">
                <a:solidFill>
                  <a:schemeClr val="accent1"/>
                </a:solidFill>
              </a:rPr>
              <a:t>06</a:t>
            </a:r>
            <a:r>
              <a:rPr lang="de-DE" dirty="0"/>
              <a:t>	Mockups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5735CCB3-0076-4E20-793A-8738478C1189}"/>
              </a:ext>
            </a:extLst>
          </p:cNvPr>
          <p:cNvSpPr txBox="1">
            <a:spLocks/>
          </p:cNvSpPr>
          <p:nvPr/>
        </p:nvSpPr>
        <p:spPr>
          <a:xfrm>
            <a:off x="838199" y="1259268"/>
            <a:ext cx="10515601" cy="4508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lIns="144000" tIns="36000" rIns="144000" bIns="360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38163" algn="l"/>
                <a:tab pos="8251825" algn="r"/>
              </a:tabLst>
            </a:pPr>
            <a:r>
              <a:rPr lang="de-DE" dirty="0">
                <a:solidFill>
                  <a:schemeClr val="accent1"/>
                </a:solidFill>
              </a:rPr>
              <a:t>01</a:t>
            </a:r>
            <a:r>
              <a:rPr lang="de-DE" dirty="0"/>
              <a:t>	Aktuelle Situation in der AVEMO Group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971C9C1B-6E8E-92A5-9EC9-CB8225A99D9F}"/>
              </a:ext>
            </a:extLst>
          </p:cNvPr>
          <p:cNvSpPr txBox="1">
            <a:spLocks/>
          </p:cNvSpPr>
          <p:nvPr/>
        </p:nvSpPr>
        <p:spPr>
          <a:xfrm>
            <a:off x="838199" y="1782191"/>
            <a:ext cx="10515601" cy="4508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lIns="144000" tIns="36000" rIns="144000" bIns="360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38163" algn="l"/>
                <a:tab pos="8251825" algn="r"/>
              </a:tabLst>
            </a:pPr>
            <a:r>
              <a:rPr lang="de-DE" dirty="0">
                <a:solidFill>
                  <a:schemeClr val="accent1"/>
                </a:solidFill>
              </a:rPr>
              <a:t>02</a:t>
            </a:r>
            <a:r>
              <a:rPr lang="de-DE" dirty="0"/>
              <a:t>	Die Zukunft mit der Fahrersoftware</a:t>
            </a:r>
          </a:p>
        </p:txBody>
      </p:sp>
    </p:spTree>
    <p:extLst>
      <p:ext uri="{BB962C8B-B14F-4D97-AF65-F5344CB8AC3E}">
        <p14:creationId xmlns:p14="http://schemas.microsoft.com/office/powerpoint/2010/main" val="87660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4D886-CC01-93BF-1E95-17242E68F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715963" algn="l"/>
              </a:tabLst>
            </a:pPr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01</a:t>
            </a:r>
            <a:r>
              <a:rPr lang="de-DE" dirty="0">
                <a:latin typeface="AVEMO Light" pitchFamily="50" charset="0"/>
              </a:rPr>
              <a:t> 	Aktuelle Situation in der AVEMO Group</a:t>
            </a:r>
          </a:p>
        </p:txBody>
      </p:sp>
      <p:sp>
        <p:nvSpPr>
          <p:cNvPr id="9" name="Abgerundetes Rechteck 1">
            <a:extLst>
              <a:ext uri="{FF2B5EF4-FFF2-40B4-BE49-F238E27FC236}">
                <a16:creationId xmlns:a16="http://schemas.microsoft.com/office/drawing/2014/main" id="{71D9F98D-638D-B3E9-DDC9-A77F6607585C}"/>
              </a:ext>
            </a:extLst>
          </p:cNvPr>
          <p:cNvSpPr/>
          <p:nvPr/>
        </p:nvSpPr>
        <p:spPr>
          <a:xfrm>
            <a:off x="832952" y="2545964"/>
            <a:ext cx="10821760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AVEMO Light" pitchFamily="50" charset="0"/>
              </a:rPr>
              <a:t>Welche manuellen Aufwände entstehen bei der Fahrerplanung?</a:t>
            </a:r>
          </a:p>
        </p:txBody>
      </p:sp>
      <p:sp>
        <p:nvSpPr>
          <p:cNvPr id="16" name="Abgerundetes Rechteck 7">
            <a:extLst>
              <a:ext uri="{FF2B5EF4-FFF2-40B4-BE49-F238E27FC236}">
                <a16:creationId xmlns:a16="http://schemas.microsoft.com/office/drawing/2014/main" id="{71202BA5-F8EA-C413-FA50-699320EF52D9}"/>
              </a:ext>
            </a:extLst>
          </p:cNvPr>
          <p:cNvSpPr/>
          <p:nvPr/>
        </p:nvSpPr>
        <p:spPr>
          <a:xfrm>
            <a:off x="832952" y="1249570"/>
            <a:ext cx="10821761" cy="1083817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DC3AB53-FF2F-0484-B12E-94037A913F28}"/>
              </a:ext>
            </a:extLst>
          </p:cNvPr>
          <p:cNvSpPr txBox="1"/>
          <p:nvPr/>
        </p:nvSpPr>
        <p:spPr>
          <a:xfrm>
            <a:off x="970578" y="1376413"/>
            <a:ext cx="106841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Jeder Standort hat seinen eigenen Fahrdienst und organisiert sich selbst mit diversen Listen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Es werden keine Synergien genutzt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Fahrten werden mit viel Aufwand koordiniert und es gibt keinerlei Automatismus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endParaRPr lang="de-DE" sz="1400" dirty="0">
              <a:latin typeface="AVEMO Light" pitchFamily="50" charset="0"/>
            </a:endParaRPr>
          </a:p>
        </p:txBody>
      </p:sp>
      <p:sp>
        <p:nvSpPr>
          <p:cNvPr id="6" name="Abgerundetes Rechteck 7">
            <a:extLst>
              <a:ext uri="{FF2B5EF4-FFF2-40B4-BE49-F238E27FC236}">
                <a16:creationId xmlns:a16="http://schemas.microsoft.com/office/drawing/2014/main" id="{29512C49-7394-3070-42F0-C808382817E9}"/>
              </a:ext>
            </a:extLst>
          </p:cNvPr>
          <p:cNvSpPr/>
          <p:nvPr/>
        </p:nvSpPr>
        <p:spPr>
          <a:xfrm>
            <a:off x="832951" y="3215829"/>
            <a:ext cx="10821761" cy="2978142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1F260DF-A00B-CE93-1EEC-72C054F190AA}"/>
              </a:ext>
            </a:extLst>
          </p:cNvPr>
          <p:cNvSpPr txBox="1"/>
          <p:nvPr/>
        </p:nvSpPr>
        <p:spPr>
          <a:xfrm>
            <a:off x="1068549" y="3300918"/>
            <a:ext cx="10684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Einplanung erfolgt in Outlook und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Man muss in mehreren Listen die gleichen Inhalte eintragen, um alle Informationen nachhalten und prüfen zu können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Manuelle Fahrerabrechnungen und Weiterbelastungen an die Abteilungen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Die Einplanung der Fahrer erfolgt per telefonischer Abfrage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2 Tage vor Abholung der Fahrten beim Service H&amp;B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Im GK-Fahrerteam erfolgt die Abfrage am Ende der Woche für die kommende Woche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Stundenabrechnung und Einsatz der individuellen Fahrer erfolgt auf Vertrauensbasis und lässt sich schwer auf Richtigkeit überprüfen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Kein Reporting möglich - Wer fährt wie lange und wie oft ist ein reines Bauchgefühl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Keine </a:t>
            </a:r>
            <a:r>
              <a:rPr lang="de-DE" sz="1400" dirty="0" err="1">
                <a:latin typeface="AVEMO Light" pitchFamily="50" charset="0"/>
              </a:rPr>
              <a:t>KPI‘s</a:t>
            </a:r>
            <a:r>
              <a:rPr lang="de-DE" sz="1400" dirty="0">
                <a:latin typeface="AVEMO Light" pitchFamily="50" charset="0"/>
              </a:rPr>
              <a:t> im Hinblick auf den besten und effizientesten Einsatz der Fahrer</a:t>
            </a:r>
          </a:p>
        </p:txBody>
      </p:sp>
    </p:spTree>
    <p:extLst>
      <p:ext uri="{BB962C8B-B14F-4D97-AF65-F5344CB8AC3E}">
        <p14:creationId xmlns:p14="http://schemas.microsoft.com/office/powerpoint/2010/main" val="214550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4BAE-E042-FD14-2DA2-FFE774E4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F07E01-193B-309A-E47C-0A4AFB55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715963" algn="l"/>
              </a:tabLst>
            </a:pPr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01</a:t>
            </a:r>
            <a:r>
              <a:rPr lang="de-DE" dirty="0">
                <a:latin typeface="AVEMO Light" pitchFamily="50" charset="0"/>
              </a:rPr>
              <a:t> 	Aktuelle Situation in der AVEMO Group</a:t>
            </a:r>
          </a:p>
        </p:txBody>
      </p:sp>
      <p:sp>
        <p:nvSpPr>
          <p:cNvPr id="16" name="Abgerundetes Rechteck 7">
            <a:extLst>
              <a:ext uri="{FF2B5EF4-FFF2-40B4-BE49-F238E27FC236}">
                <a16:creationId xmlns:a16="http://schemas.microsoft.com/office/drawing/2014/main" id="{BB39B436-5086-6011-C217-38C4CC8C516A}"/>
              </a:ext>
            </a:extLst>
          </p:cNvPr>
          <p:cNvSpPr/>
          <p:nvPr/>
        </p:nvSpPr>
        <p:spPr>
          <a:xfrm>
            <a:off x="832952" y="1249570"/>
            <a:ext cx="10821761" cy="5009716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5BE6E31-87AB-62A6-3464-6EBDA5D0B6E9}"/>
              </a:ext>
            </a:extLst>
          </p:cNvPr>
          <p:cNvSpPr txBox="1"/>
          <p:nvPr/>
        </p:nvSpPr>
        <p:spPr>
          <a:xfrm>
            <a:off x="970578" y="1376413"/>
            <a:ext cx="1068413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Unterlagen, welche vom Kunden unterschrieben wurden, sind manchmal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Unvollständig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Gehen teilweise verloren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Werden zu spät in der Dispo abgegeben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Die Dispo hat den Mehraufwand um die Unterlagen nachzuhalten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Erneutes Einscannen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Versenden an den Kunden und an die digitale Akte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Dadurch entsteht eine verspätete Faktura an den Kunden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Leerlaufzeiten der einzelnen Fahrerteams sind nicht klar messbar und werden nicht fachbereichsübergreifend ausgenutzt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Viele Fahrerteams aus unterschiedlichen Standorten fahren oftmals alle in das Rhein-Main-Gebiet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Es findet keine Abstimmung statt und kein Einsatz von Schwarmintelligenz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Es lässt sich nicht nachvollziehen, welche Arten von Fahrten gemacht werden bzw. welche Fahrten sollten nicht gemacht werden.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Der Einsatz von kompetenten Fahrern für die entsprechende Fahrerauftragskategorie wird nicht sichergestellt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Die Fahrerteams werden oft als Ausgleich für ineffiziente Prozesse genutzt und fördern damit schlechte/alte Prozesse und die eigene Ineffizienz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Bei H&amp;B haben wir im Normalfall eine Leerlaufzeit von 2,5h pro Tag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Schlechte Informationen und Updates an den Kunden wann das Fahrzeug genau geliefert wird</a:t>
            </a:r>
          </a:p>
          <a:p>
            <a:endParaRPr lang="de-DE" sz="1400" dirty="0">
              <a:latin typeface="AVEMO Light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endParaRPr lang="de-DE" sz="1400" dirty="0">
              <a:latin typeface="AVEM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99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B5BD-30B9-664A-847E-3BC28FD7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8AE30-DACF-B258-9F07-9FC26361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715963" algn="l"/>
              </a:tabLst>
            </a:pPr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01</a:t>
            </a:r>
            <a:r>
              <a:rPr lang="de-DE" dirty="0">
                <a:latin typeface="AVEMO Light" pitchFamily="50" charset="0"/>
              </a:rPr>
              <a:t> 	Aktuelle Situation in der AVEMO Group</a:t>
            </a:r>
          </a:p>
        </p:txBody>
      </p:sp>
      <p:sp>
        <p:nvSpPr>
          <p:cNvPr id="9" name="Abgerundetes Rechteck 1">
            <a:extLst>
              <a:ext uri="{FF2B5EF4-FFF2-40B4-BE49-F238E27FC236}">
                <a16:creationId xmlns:a16="http://schemas.microsoft.com/office/drawing/2014/main" id="{1F8E9DBA-0598-87E6-8712-4DCF532B964A}"/>
              </a:ext>
            </a:extLst>
          </p:cNvPr>
          <p:cNvSpPr/>
          <p:nvPr/>
        </p:nvSpPr>
        <p:spPr>
          <a:xfrm>
            <a:off x="832952" y="1078417"/>
            <a:ext cx="10821760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AVEMO Light" pitchFamily="50" charset="0"/>
              </a:rPr>
              <a:t>Fahrer-Dienstleister</a:t>
            </a:r>
          </a:p>
        </p:txBody>
      </p:sp>
      <p:sp>
        <p:nvSpPr>
          <p:cNvPr id="6" name="Abgerundetes Rechteck 7">
            <a:extLst>
              <a:ext uri="{FF2B5EF4-FFF2-40B4-BE49-F238E27FC236}">
                <a16:creationId xmlns:a16="http://schemas.microsoft.com/office/drawing/2014/main" id="{54B41CA2-3342-852D-C5FC-3362F571E2FC}"/>
              </a:ext>
            </a:extLst>
          </p:cNvPr>
          <p:cNvSpPr/>
          <p:nvPr/>
        </p:nvSpPr>
        <p:spPr>
          <a:xfrm>
            <a:off x="832951" y="1680942"/>
            <a:ext cx="10821761" cy="1169551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0BA35D1-C19B-58C8-4EDC-EEA6C54E6CF1}"/>
              </a:ext>
            </a:extLst>
          </p:cNvPr>
          <p:cNvSpPr txBox="1"/>
          <p:nvPr/>
        </p:nvSpPr>
        <p:spPr>
          <a:xfrm>
            <a:off x="970578" y="1787804"/>
            <a:ext cx="106841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Der Einsatz bzw. die Einplanung von Fahrer-Dienstleister (FDL) erfolgt durch das Auslieferungsmanagement (ALM).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Der Mitarbeiter wählt den FDL und entscheidet somit über die Erteilung des Auftrages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Hier müssen alle Dokumente und Infos für die Auslieferung z.B. per Outlook übermittelt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Abrechnung der FDL ist nicht nachvollziehbar und nur sehr schwer und aufwendig auf Richtigkeit zu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</p:txBody>
      </p:sp>
      <p:sp>
        <p:nvSpPr>
          <p:cNvPr id="3" name="Abgerundetes Rechteck 1">
            <a:extLst>
              <a:ext uri="{FF2B5EF4-FFF2-40B4-BE49-F238E27FC236}">
                <a16:creationId xmlns:a16="http://schemas.microsoft.com/office/drawing/2014/main" id="{8146170F-3D51-DBAF-1380-D4DC4CC30A0E}"/>
              </a:ext>
            </a:extLst>
          </p:cNvPr>
          <p:cNvSpPr/>
          <p:nvPr/>
        </p:nvSpPr>
        <p:spPr>
          <a:xfrm>
            <a:off x="832951" y="2995730"/>
            <a:ext cx="10821760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AVEMO Light" pitchFamily="50" charset="0"/>
              </a:rPr>
              <a:t>Zeitfenster</a:t>
            </a:r>
          </a:p>
        </p:txBody>
      </p:sp>
      <p:sp>
        <p:nvSpPr>
          <p:cNvPr id="4" name="Abgerundetes Rechteck 7">
            <a:extLst>
              <a:ext uri="{FF2B5EF4-FFF2-40B4-BE49-F238E27FC236}">
                <a16:creationId xmlns:a16="http://schemas.microsoft.com/office/drawing/2014/main" id="{0C8EEE54-22EF-110D-DB2F-DA59B8458D1D}"/>
              </a:ext>
            </a:extLst>
          </p:cNvPr>
          <p:cNvSpPr/>
          <p:nvPr/>
        </p:nvSpPr>
        <p:spPr>
          <a:xfrm>
            <a:off x="832951" y="3598255"/>
            <a:ext cx="10821761" cy="2617488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15D3FAF-42F9-B281-0928-97694DA91A66}"/>
              </a:ext>
            </a:extLst>
          </p:cNvPr>
          <p:cNvSpPr txBox="1"/>
          <p:nvPr/>
        </p:nvSpPr>
        <p:spPr>
          <a:xfrm>
            <a:off x="970577" y="3765264"/>
            <a:ext cx="10684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Aktuell benötigen wir ca. 30 Tage bis ein Fahrzeug ausgeliefert werden kann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Nachhalten der Übergabebestätigung &amp; Fahrzeugscheinkopie hochladen an den Aktendeckel , senden an den </a:t>
            </a:r>
          </a:p>
          <a:p>
            <a:r>
              <a:rPr lang="de-DE" sz="1400" dirty="0">
                <a:latin typeface="AVEMO Light" pitchFamily="50" charset="0"/>
              </a:rPr>
              <a:t>        Fuhrparkleiter </a:t>
            </a:r>
            <a:r>
              <a:rPr lang="de-DE" sz="1400" dirty="0">
                <a:latin typeface="AVEMO Light" pitchFamily="50" charset="0"/>
                <a:sym typeface="Wingdings" panose="05000000000000000000" pitchFamily="2" charset="2"/>
              </a:rPr>
              <a:t> 5-10 Minuten pro Vorgang</a:t>
            </a:r>
          </a:p>
          <a:p>
            <a:r>
              <a:rPr lang="de-DE" sz="1400" dirty="0">
                <a:latin typeface="AVEMO Light" pitchFamily="50" charset="0"/>
                <a:sym typeface="Wingdings" panose="05000000000000000000" pitchFamily="2" charset="2"/>
              </a:rPr>
              <a:t>        5 x8.000 Fahrzeuge = 3-6 Stunden pro Tag</a:t>
            </a:r>
          </a:p>
          <a:p>
            <a:endParaRPr lang="de-DE" sz="1400" dirty="0">
              <a:latin typeface="AVEMO Light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Zeit pro Fahrzeug vom Eintreffen beim Spediteur bis zur Auslieferung: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Best Mitarbeiter Auslieferungssteuerung;: 11 Personen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5.500 Fahrzeuge / Jahr </a:t>
            </a:r>
            <a:r>
              <a:rPr lang="de-DE" sz="1400" dirty="0">
                <a:latin typeface="AVEMO Light" pitchFamily="50" charset="0"/>
                <a:sym typeface="Wingdings" panose="05000000000000000000" pitchFamily="2" charset="2"/>
              </a:rPr>
              <a:t> 25 Fahrzeuge / Tag)  2,3 Fahrzeuge / Person  3,5h  je Fahrzeug</a:t>
            </a:r>
            <a:endParaRPr lang="de-DE" sz="1400" dirty="0">
              <a:latin typeface="AVEM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93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3DC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47CB8-F202-2802-F9AA-E0F5A09E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E0ED67-D51C-D34F-598C-E2DCD5506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715963" algn="l"/>
              </a:tabLst>
            </a:pPr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02</a:t>
            </a:r>
            <a:r>
              <a:rPr lang="de-DE" dirty="0">
                <a:latin typeface="AVEMO Light" pitchFamily="50" charset="0"/>
              </a:rPr>
              <a:t> 	Die Zukunft mit der Fahrersoftware</a:t>
            </a:r>
          </a:p>
        </p:txBody>
      </p:sp>
      <p:sp>
        <p:nvSpPr>
          <p:cNvPr id="8" name="Abgerundetes Rechteck 20">
            <a:extLst>
              <a:ext uri="{FF2B5EF4-FFF2-40B4-BE49-F238E27FC236}">
                <a16:creationId xmlns:a16="http://schemas.microsoft.com/office/drawing/2014/main" id="{A5282F15-6EBB-E9DF-E0CF-743A527F53E1}"/>
              </a:ext>
            </a:extLst>
          </p:cNvPr>
          <p:cNvSpPr/>
          <p:nvPr/>
        </p:nvSpPr>
        <p:spPr>
          <a:xfrm>
            <a:off x="947057" y="1296548"/>
            <a:ext cx="9861619" cy="519632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>
                <a:solidFill>
                  <a:srgbClr val="161513"/>
                </a:solidFill>
                <a:latin typeface="AVEMO" pitchFamily="2" charset="77"/>
              </a:rPr>
              <a:t>                              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979BED4-5F7A-7F0A-4A57-FB792DE136B4}"/>
              </a:ext>
            </a:extLst>
          </p:cNvPr>
          <p:cNvSpPr txBox="1"/>
          <p:nvPr/>
        </p:nvSpPr>
        <p:spPr>
          <a:xfrm>
            <a:off x="1383324" y="1626913"/>
            <a:ext cx="91634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Wir schaffen Synergien zwischen den verschiedenen Fahrdiensten/gruppenübergreifend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Steigerung der Effizienz innerhalb der Fahrerteams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Es besteht ein großes Einsparpotential und können zusätzlich mehr Fahrten abbilden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Schaffung freier Kapazitäten ohne neues Personal einstellen zu müssen beim Verkauf höher Stückzahlen  und/oder Aufbau neuer GK-Teams.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Wir schaffen einen professionellen Auftritt vor Kunde und ein innovatives Image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KPI sichtbar machen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Optimaler Fahrereinsatz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Synergien innerhalb der Gruppe nutzen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Transparente Abrechnungen der Fahrdienstleister (Fremd)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Automationen in der Abwicklung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Maximale Bonusausschöpfung</a:t>
            </a: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Reduzierung der </a:t>
            </a:r>
            <a:r>
              <a:rPr lang="de-DE" sz="1400" dirty="0" err="1">
                <a:latin typeface="AVEMO Light" pitchFamily="50" charset="0"/>
              </a:rPr>
              <a:t>Stanzeiten</a:t>
            </a:r>
            <a:endParaRPr lang="de-DE" sz="1400" dirty="0">
              <a:latin typeface="AVEMO Light" pitchFamily="50" charset="0"/>
            </a:endParaRP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pPr marL="285750" indent="-285750">
              <a:buClr>
                <a:srgbClr val="4BB4E6"/>
              </a:buClr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91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CDF7668-19A9-0210-E52B-58713BC7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03</a:t>
            </a:r>
            <a:r>
              <a:rPr lang="de-DE" dirty="0">
                <a:latin typeface="AVEMO Light" pitchFamily="50" charset="0"/>
              </a:rPr>
              <a:t> 	Analyse verschiedener Anbieter</a:t>
            </a:r>
            <a:endParaRPr lang="de-DE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DB5698DF-D294-BEC7-2AE5-BBB6AC4D3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90" y="1221972"/>
            <a:ext cx="6639273" cy="52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8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15DD-3631-8F84-8727-6DDAE2AE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E6F0950-2494-5B91-BD6B-F8FB06B6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03</a:t>
            </a:r>
            <a:r>
              <a:rPr lang="de-DE" dirty="0">
                <a:latin typeface="AVEMO Light" pitchFamily="50" charset="0"/>
              </a:rPr>
              <a:t> 	Analyse verschiedener Anbieter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FB8A1B2-6D94-5B1D-4C4F-CA33F8565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04" y="1392456"/>
            <a:ext cx="6118263" cy="546554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073B2A5-E602-D720-D208-D20F4B990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03" y="1153803"/>
            <a:ext cx="6047119" cy="23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2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9AB0538-964A-8369-9278-905A4B700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22904BF7-FA7B-F296-A139-C2F58995459D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PoC: Planungsalgorithmus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sp>
        <p:nvSpPr>
          <p:cNvPr id="15" name="Abgerundetes Rechteck 7">
            <a:extLst>
              <a:ext uri="{FF2B5EF4-FFF2-40B4-BE49-F238E27FC236}">
                <a16:creationId xmlns:a16="http://schemas.microsoft.com/office/drawing/2014/main" id="{4B9D2538-DF4A-0731-B984-0D5648810BB3}"/>
              </a:ext>
            </a:extLst>
          </p:cNvPr>
          <p:cNvSpPr/>
          <p:nvPr/>
        </p:nvSpPr>
        <p:spPr>
          <a:xfrm>
            <a:off x="695325" y="1736229"/>
            <a:ext cx="10613904" cy="4431658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CA54382-6C9A-6768-69C4-78596FEEAC0F}"/>
              </a:ext>
            </a:extLst>
          </p:cNvPr>
          <p:cNvSpPr txBox="1"/>
          <p:nvPr/>
        </p:nvSpPr>
        <p:spPr>
          <a:xfrm>
            <a:off x="882771" y="1893749"/>
            <a:ext cx="100814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VEMO Light" pitchFamily="50" charset="0"/>
              </a:rPr>
              <a:t>Ziel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Nachweis, dass ein automatisierter Tagesplan für ein vollständigen Monat erstellt werden kann, 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Interne Fahrer optimal auslastet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Gleichzeitig die Gesamtkosten minimiert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Optimierungslogik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Maximale Auslastung interner Fahrer ( Arbeitszeiten, Verfügbarkeit, Qualifikationen)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Minimierung der Gesamtkosten unter der Berücksichtigung von Fahrzeiten, externen Ressourcen und Restriktionen,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Externe Dienstleister nur bei fehlenden Kapazitäten oder besserer Wirtschaftlichkeit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Qualifikation, Zeitfenster, Standorte und Routing fließen in die Bewertung ein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Datenbasis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Repräsentativer Fahrtenkatalog eines Monats (Fahrtarten ABA, AB, BA)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Fahrerprofil mit Verfügbarkeit, Qualifikationen und Wochenstunden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Anbindung von GeNesys und KDV per API oder Export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Routing-Provider zur Ermittlung von Entfernungen und Fahrzeiten.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pPr>
              <a:buClr>
                <a:schemeClr val="accent1"/>
              </a:buClr>
            </a:pPr>
            <a:endParaRPr lang="de-DE" sz="1400" dirty="0">
              <a:latin typeface="AVEM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17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EE044-AE4F-CC76-3934-2842219E0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4F0D2E2-8329-F7B6-B13A-04F3C4348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3E73E6AC-084D-C67B-C581-CAC52E7BF243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Konzept &amp; Klick-Prototyp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sp>
        <p:nvSpPr>
          <p:cNvPr id="15" name="Abgerundetes Rechteck 7">
            <a:extLst>
              <a:ext uri="{FF2B5EF4-FFF2-40B4-BE49-F238E27FC236}">
                <a16:creationId xmlns:a16="http://schemas.microsoft.com/office/drawing/2014/main" id="{79F7A86A-5740-26EF-DF39-21A90001BC0E}"/>
              </a:ext>
            </a:extLst>
          </p:cNvPr>
          <p:cNvSpPr/>
          <p:nvPr/>
        </p:nvSpPr>
        <p:spPr>
          <a:xfrm>
            <a:off x="695325" y="1736229"/>
            <a:ext cx="10613904" cy="4431658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B81570F-B204-42E1-F147-975F9E6B69A7}"/>
              </a:ext>
            </a:extLst>
          </p:cNvPr>
          <p:cNvSpPr txBox="1"/>
          <p:nvPr/>
        </p:nvSpPr>
        <p:spPr>
          <a:xfrm>
            <a:off x="882771" y="1893749"/>
            <a:ext cx="1008140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VEMO Light" pitchFamily="50" charset="0"/>
              </a:rPr>
              <a:t>Ziel</a:t>
            </a:r>
          </a:p>
          <a:p>
            <a:r>
              <a:rPr lang="de-DE" sz="1400" dirty="0">
                <a:latin typeface="AVEMO Light" pitchFamily="50" charset="0"/>
              </a:rPr>
              <a:t>Ein durchgängiges Fach- und UI-Konzept für alle zentralen Prozesse erstellen – inklusiver klickbarer Prototypen für: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Web-Backoffice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Fahrer-App</a:t>
            </a:r>
          </a:p>
          <a:p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Kerninhalte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Use Cases &amp; Rollenmodell: Beschreibung der wichtigsten Anwendungsfälle sowie Rollen und Berechtigungen (Disposition, Leitung, interne Fahrer, externe Dienstleister)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System- &amp; Datenarchitektur: Grobkonzept zur Architektur, Datenmodell und Integration (GeNesys, KDV, Routing)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Klickbare Prototypen für alle entscheidenden UI-Bereiche: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Tagesplanung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Fahrtenliste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Fahrer-Kalender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Protokolle inkl. Foto/Signatur-Flows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Monitoring &amp; Reporting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pPr>
              <a:buClr>
                <a:schemeClr val="accent1"/>
              </a:buClr>
            </a:pPr>
            <a:endParaRPr lang="de-DE" sz="1400" dirty="0">
              <a:latin typeface="AVEM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11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18F27-BAF0-686D-3FB6-4713E9A2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B512EDB-C73F-44E4-A154-207047BA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ADF34F8E-8890-D89A-95A5-934CA305D2E3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Konzept &amp; Klick-Prototyp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sp>
        <p:nvSpPr>
          <p:cNvPr id="15" name="Abgerundetes Rechteck 7">
            <a:extLst>
              <a:ext uri="{FF2B5EF4-FFF2-40B4-BE49-F238E27FC236}">
                <a16:creationId xmlns:a16="http://schemas.microsoft.com/office/drawing/2014/main" id="{E39A9C97-6C1D-4E97-BF29-780966412542}"/>
              </a:ext>
            </a:extLst>
          </p:cNvPr>
          <p:cNvSpPr/>
          <p:nvPr/>
        </p:nvSpPr>
        <p:spPr>
          <a:xfrm>
            <a:off x="695325" y="1736229"/>
            <a:ext cx="10613904" cy="4431658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DF37918-92C9-71F2-1C56-45162A855279}"/>
              </a:ext>
            </a:extLst>
          </p:cNvPr>
          <p:cNvSpPr txBox="1"/>
          <p:nvPr/>
        </p:nvSpPr>
        <p:spPr>
          <a:xfrm>
            <a:off x="882771" y="1893749"/>
            <a:ext cx="1008140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VEMO Light" pitchFamily="50" charset="0"/>
              </a:rPr>
              <a:t>Ziel</a:t>
            </a:r>
          </a:p>
          <a:p>
            <a:r>
              <a:rPr lang="de-DE" sz="1400" dirty="0">
                <a:latin typeface="AVEMO Light" pitchFamily="50" charset="0"/>
              </a:rPr>
              <a:t>Ein durchgängiges Fach- und UI-Konzept für alle zentralen Prozesse erstellen – inklusiver klickbarer Prototypen für: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Web-Backoffice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Fahrer-App</a:t>
            </a:r>
          </a:p>
          <a:p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Kerninhalte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Use Cases &amp; Rollenmodell: Beschreibung der wichtigsten Anwendungsfälle sowie Rollen und Berechtigungen (Disposition, Leitung, interne Fahrer, externe Dienstleister)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System- &amp; Datenarchitektur: Grobkonzept zur Architektur, Datenmodell und Integration (GeNesys, KDV, Routing)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Klickbare Prototypen für alle entscheidenden UI-Bereiche: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Tagesplanung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Fahrtenliste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Fahrer-Kalender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Protokolle inkl. Foto/Signatur-Flows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Monitoring &amp; Reporting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pPr>
              <a:buClr>
                <a:schemeClr val="accent1"/>
              </a:buClr>
            </a:pPr>
            <a:endParaRPr lang="de-DE" sz="1400" dirty="0">
              <a:latin typeface="AVEM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28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9595-E0FA-A9F3-1CCD-CB864DD6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8C946DA-EFCF-DED8-FD5D-0524396F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2C7906F9-1D1E-041A-C029-9D451D2773BB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MVP: Version für ersten Standort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sp>
        <p:nvSpPr>
          <p:cNvPr id="15" name="Abgerundetes Rechteck 7">
            <a:extLst>
              <a:ext uri="{FF2B5EF4-FFF2-40B4-BE49-F238E27FC236}">
                <a16:creationId xmlns:a16="http://schemas.microsoft.com/office/drawing/2014/main" id="{344592FE-CCB1-C430-1A59-A7105B825B26}"/>
              </a:ext>
            </a:extLst>
          </p:cNvPr>
          <p:cNvSpPr/>
          <p:nvPr/>
        </p:nvSpPr>
        <p:spPr>
          <a:xfrm>
            <a:off x="695325" y="1736228"/>
            <a:ext cx="10613904" cy="4756645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A3589CE-E0A0-0A99-2E53-5076A9209C68}"/>
              </a:ext>
            </a:extLst>
          </p:cNvPr>
          <p:cNvSpPr txBox="1"/>
          <p:nvPr/>
        </p:nvSpPr>
        <p:spPr>
          <a:xfrm>
            <a:off x="882771" y="1893749"/>
            <a:ext cx="100814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VEMO Light" pitchFamily="50" charset="0"/>
              </a:rPr>
              <a:t>1. End‑</a:t>
            </a:r>
            <a:r>
              <a:rPr lang="de-DE" sz="1400" b="1" dirty="0" err="1">
                <a:latin typeface="AVEMO Light" pitchFamily="50" charset="0"/>
              </a:rPr>
              <a:t>to</a:t>
            </a:r>
            <a:r>
              <a:rPr lang="de-DE" sz="1400" b="1" dirty="0">
                <a:latin typeface="AVEMO Light" pitchFamily="50" charset="0"/>
              </a:rPr>
              <a:t>‑End‑Prozesse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Auftragsübernahme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Automatisierte Fahrtenplanung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Fahrtenabwicklung in der Fahrer‑App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Übergabe‑ und Rücknahmeprotokolle (Fotos, Checklisten, Signatur)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Einfaches Reporting &amp; Abrechnung</a:t>
            </a:r>
          </a:p>
          <a:p>
            <a:pPr lvl="0"/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2. Produktive Nutzung für alle Rollen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Disposition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Interne Fahrer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Externe Dienstleister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Administration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Zentrale Oberflächen: Dispo‑Planung, Fahrtenliste, Fahrer‑App‑Flows, Monitoring laufender Fahrten.</a:t>
            </a:r>
          </a:p>
          <a:p>
            <a:endParaRPr lang="de-DE" sz="1400" b="1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3. Automatisierte Planung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Optimierung nach interner Auslastung und Gesamtkosten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Berücksichtigung von Qualifikationen, Verfügbarkeiten, Arbeitszeitgrenzen, Routing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Notwendige Schnittstellen: GeNesys, KDV, Routing‑Provider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Einbindung externer Dienstleister bei Engpässen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Nachweis der PoC‑Kriterien (Korrekturquote, Performance, Konsistenz)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de-DE" sz="1400" b="1" dirty="0">
              <a:latin typeface="AVEMO Light" pitchFamily="50" charset="0"/>
            </a:endParaRPr>
          </a:p>
          <a:p>
            <a:pPr>
              <a:buClr>
                <a:schemeClr val="accent1"/>
              </a:buClr>
            </a:pPr>
            <a:endParaRPr lang="de-DE" sz="1400" dirty="0">
              <a:latin typeface="AVEM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19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E319-0E91-999D-AE2A-CD4606DF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A0B349F-EF37-F2E2-3737-65BA54E1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81330988-5E56-9342-4E83-6D45D67860CB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MVP: Version für ersten Standort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sp>
        <p:nvSpPr>
          <p:cNvPr id="15" name="Abgerundetes Rechteck 7">
            <a:extLst>
              <a:ext uri="{FF2B5EF4-FFF2-40B4-BE49-F238E27FC236}">
                <a16:creationId xmlns:a16="http://schemas.microsoft.com/office/drawing/2014/main" id="{84392245-FE18-FDAD-E673-6BE014D7BDF6}"/>
              </a:ext>
            </a:extLst>
          </p:cNvPr>
          <p:cNvSpPr/>
          <p:nvPr/>
        </p:nvSpPr>
        <p:spPr>
          <a:xfrm>
            <a:off x="695325" y="1736228"/>
            <a:ext cx="10613904" cy="4923364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CE2091-9415-48D7-B8DA-44A9C537D580}"/>
              </a:ext>
            </a:extLst>
          </p:cNvPr>
          <p:cNvSpPr txBox="1"/>
          <p:nvPr/>
        </p:nvSpPr>
        <p:spPr>
          <a:xfrm>
            <a:off x="882771" y="1893749"/>
            <a:ext cx="1008140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VEMO Light" pitchFamily="50" charset="0"/>
              </a:rPr>
              <a:t>4. Fahrer‑App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Tages‑/Wochenübersicht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Geführte Schritt‑für‑Schritt‑Prozesse je </a:t>
            </a:r>
            <a:r>
              <a:rPr lang="de-DE" sz="1400" dirty="0" err="1">
                <a:latin typeface="AVEMO Light" pitchFamily="50" charset="0"/>
              </a:rPr>
              <a:t>Fahrtart</a:t>
            </a:r>
            <a:endParaRPr lang="de-DE" sz="1400" dirty="0">
              <a:latin typeface="AVEMO Light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Digitale Protokolle mit Fotos &amp; Unterschrift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Offline‑fähig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5. Externe Dienstleister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Zuweisung &amp; Annahme von Fahrten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Basis‑Kostenangaben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Einfache Web‑/Portalansicht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6. Monitoring &amp; Benachrichtigungen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Übersicht aller laufenden Fahrten mit Status &amp; Historie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E‑Mail‑Benachrichtigungen für Fahrer/Dienstleister/Kunden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Grundlegende Nachvollziehbarkeit bei Änderungen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7. Basis‑Reporting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Interne Auslastung &amp; Stunden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Externe Dienstleisterkosten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Interne vs. externe Kostenanteile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Standard‑Dashboards &amp; Excel‑Exporte</a:t>
            </a:r>
          </a:p>
        </p:txBody>
      </p:sp>
    </p:spTree>
    <p:extLst>
      <p:ext uri="{BB962C8B-B14F-4D97-AF65-F5344CB8AC3E}">
        <p14:creationId xmlns:p14="http://schemas.microsoft.com/office/powerpoint/2010/main" val="2698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4E46-025D-B64A-3A3B-4E579E5A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C3135F00-0182-D6E1-C670-066181C5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56E53755-C0D5-8D26-CB76-C3CC13574476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MVP: Version für ersten Standort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EA390A5-831B-BCD3-E5E1-CC83B112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15" y="1682656"/>
            <a:ext cx="9132498" cy="495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14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98C34-1B0C-715C-CF6E-12149982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B6801FD-B01E-4ABE-0269-1D942C79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DBB03B7A-431E-3267-AC0C-EE302572C515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MVP-</a:t>
            </a:r>
            <a:r>
              <a:rPr lang="de-DE" dirty="0" err="1"/>
              <a:t>Epics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sp>
        <p:nvSpPr>
          <p:cNvPr id="15" name="Abgerundetes Rechteck 7">
            <a:extLst>
              <a:ext uri="{FF2B5EF4-FFF2-40B4-BE49-F238E27FC236}">
                <a16:creationId xmlns:a16="http://schemas.microsoft.com/office/drawing/2014/main" id="{82BF9B7A-B42A-03AE-BD0D-E9418B96A645}"/>
              </a:ext>
            </a:extLst>
          </p:cNvPr>
          <p:cNvSpPr/>
          <p:nvPr/>
        </p:nvSpPr>
        <p:spPr>
          <a:xfrm>
            <a:off x="695325" y="1736228"/>
            <a:ext cx="10613904" cy="4923364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F1E443C-493D-4A33-5F41-309E4C8D8C67}"/>
              </a:ext>
            </a:extLst>
          </p:cNvPr>
          <p:cNvSpPr txBox="1"/>
          <p:nvPr/>
        </p:nvSpPr>
        <p:spPr>
          <a:xfrm>
            <a:off x="882771" y="1893749"/>
            <a:ext cx="100814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e-DE" sz="1400" b="1" dirty="0">
                <a:latin typeface="AVEMO Light" pitchFamily="50" charset="0"/>
              </a:rPr>
              <a:t>Authentifizierung &amp; Rollen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Benutzerverwaltung für Dispo, Fahrer, Dienstleister und Admins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Login, Passwort-</a:t>
            </a:r>
            <a:r>
              <a:rPr lang="de-DE" sz="1400" dirty="0" err="1">
                <a:latin typeface="AVEMO Light" pitchFamily="50" charset="0"/>
              </a:rPr>
              <a:t>Reset</a:t>
            </a:r>
            <a:r>
              <a:rPr lang="de-DE" sz="1400" dirty="0">
                <a:latin typeface="AVEMO Light" pitchFamily="50" charset="0"/>
              </a:rPr>
              <a:t>, E-Mail-Verifizierung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Rollen &amp; Berechtigung pro Standort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Grundlegende Sicherheitsfunktionen (z.B. Log-Tracking)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2. Fahrer- &amp; Dienstleister-Management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Verwaltung interner Fahrer (Qualifikation, Zeiten, Status)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Verwaltung externer Dienstleister mit Kapazitäten &amp; Kostenmodellen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Import relevanter Personaldaten aus KDV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Basis-Struktur für Standorte/Teams</a:t>
            </a:r>
          </a:p>
          <a:p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3. Fahrten- &amp; Auftragsdaten (ABA/AB/BA)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Erstellen &amp; Verwalten von ABA/AB/BA – Aufträgen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Datenübernahme aus GeNesys, KDV oder per Export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Pflege von Start/Endpunkt, Zeitfenster, Qualifikation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Standard-Statuskette für alle Fahrten</a:t>
            </a:r>
          </a:p>
          <a:p>
            <a:endParaRPr lang="de-DE" sz="1400" b="1" dirty="0">
              <a:latin typeface="AVEM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93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098-7D8D-E695-83F1-9CA1E730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9CE5F93-6EF9-0D81-D50C-C3AEBCA9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940D7181-A5FE-AAB9-E216-ED5DF79AD3D9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MVP-</a:t>
            </a:r>
            <a:r>
              <a:rPr lang="de-DE" dirty="0" err="1"/>
              <a:t>Epics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sp>
        <p:nvSpPr>
          <p:cNvPr id="15" name="Abgerundetes Rechteck 7">
            <a:extLst>
              <a:ext uri="{FF2B5EF4-FFF2-40B4-BE49-F238E27FC236}">
                <a16:creationId xmlns:a16="http://schemas.microsoft.com/office/drawing/2014/main" id="{2A4AE0A3-0F71-B46B-E211-0BBA3A250DF6}"/>
              </a:ext>
            </a:extLst>
          </p:cNvPr>
          <p:cNvSpPr/>
          <p:nvPr/>
        </p:nvSpPr>
        <p:spPr>
          <a:xfrm>
            <a:off x="695325" y="1736228"/>
            <a:ext cx="10613904" cy="4923364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37423D5-9F0E-D840-5A1A-631DE31DE3D8}"/>
              </a:ext>
            </a:extLst>
          </p:cNvPr>
          <p:cNvSpPr txBox="1"/>
          <p:nvPr/>
        </p:nvSpPr>
        <p:spPr>
          <a:xfrm>
            <a:off x="882771" y="1893749"/>
            <a:ext cx="1008140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VEMO Light" pitchFamily="50" charset="0"/>
              </a:rPr>
              <a:t>4. Disposition &amp; Automatisierte Planung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Automatische Fahrerzuordnung nach Verfügbarkeit, Qualifikation, Fahrzeit, Kosten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Dispo-Ansicht für min. 7 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Konflikte, Engpässe, manuelle </a:t>
            </a:r>
            <a:r>
              <a:rPr lang="de-DE" sz="1400" dirty="0" err="1">
                <a:latin typeface="AVEMO Light" pitchFamily="50" charset="0"/>
              </a:rPr>
              <a:t>Overrides</a:t>
            </a:r>
            <a:endParaRPr lang="de-DE" sz="1400" dirty="0">
              <a:latin typeface="AVEMO Light" pitchFamily="50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Einbindung externer Dienstleister bei Bedarf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Erfüllt PoC-Kriterien</a:t>
            </a:r>
          </a:p>
          <a:p>
            <a:endParaRPr lang="de-DE" sz="1400" b="1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5. Fahrer-App &amp; Digitale Durchführung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Tages- /Wochenübersicht für Fahrer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Geführte Schritt-Flows pro Fahrt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Digitale Übergabe- / Rücknahmeprotokolle (Fotos, Checkliste, Unterschrift)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Offline-fähige Datenerfassung</a:t>
            </a:r>
          </a:p>
          <a:p>
            <a:pPr lvl="1"/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6. Externe Dienstleister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Fahrtenzuweisung &amp; Annahmeprozess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Einfache Portalsicht für Dienstleister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Erfassung relevanter externer Kosten je Fahrt</a:t>
            </a:r>
          </a:p>
        </p:txBody>
      </p:sp>
    </p:spTree>
    <p:extLst>
      <p:ext uri="{BB962C8B-B14F-4D97-AF65-F5344CB8AC3E}">
        <p14:creationId xmlns:p14="http://schemas.microsoft.com/office/powerpoint/2010/main" val="259784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69F4-0D20-DAFC-5FE5-50F84B42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49120B6-60E7-8F5B-2F9D-A23FC529C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B9223724-FD04-7C01-3D67-C5AB92A2BD0C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MVP-</a:t>
            </a:r>
            <a:r>
              <a:rPr lang="de-DE" dirty="0" err="1"/>
              <a:t>Epics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sp>
        <p:nvSpPr>
          <p:cNvPr id="15" name="Abgerundetes Rechteck 7">
            <a:extLst>
              <a:ext uri="{FF2B5EF4-FFF2-40B4-BE49-F238E27FC236}">
                <a16:creationId xmlns:a16="http://schemas.microsoft.com/office/drawing/2014/main" id="{463AF3CE-AEAE-8D9F-8D0A-0856FA7E4655}"/>
              </a:ext>
            </a:extLst>
          </p:cNvPr>
          <p:cNvSpPr/>
          <p:nvPr/>
        </p:nvSpPr>
        <p:spPr>
          <a:xfrm>
            <a:off x="695325" y="1736228"/>
            <a:ext cx="10613904" cy="4923364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878B00D-BE54-6287-74FD-7771E42BF84E}"/>
              </a:ext>
            </a:extLst>
          </p:cNvPr>
          <p:cNvSpPr txBox="1"/>
          <p:nvPr/>
        </p:nvSpPr>
        <p:spPr>
          <a:xfrm>
            <a:off x="882771" y="1893749"/>
            <a:ext cx="100814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VEMO Light" pitchFamily="50" charset="0"/>
              </a:rPr>
              <a:t>7. Monitoring &amp; Benachrichtigungen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Live-Status aller Fahrten inkl. Historie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Benachrichtigungen für Fahrer &amp; Dienstleister bei Änderungen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r>
              <a:rPr lang="de-DE" sz="1400" b="1" dirty="0">
                <a:latin typeface="AVEMO Light" pitchFamily="50" charset="0"/>
              </a:rPr>
              <a:t>8. Reporting &amp; Exporte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Auswertungen zu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Interne Fahrerstunden, Auslastung pro Fahrer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Kosten externer Dienstleister pro Fahrt und pro Dienstleister/Monat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Anteil interne vs. Externe Kosten in Summe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Standard Reports als Dashboard und Excel Export</a:t>
            </a:r>
          </a:p>
        </p:txBody>
      </p:sp>
    </p:spTree>
    <p:extLst>
      <p:ext uri="{BB962C8B-B14F-4D97-AF65-F5344CB8AC3E}">
        <p14:creationId xmlns:p14="http://schemas.microsoft.com/office/powerpoint/2010/main" val="118216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2B6A7-1D25-8337-F2DB-F6B0ED31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52521AE-4F02-3DAD-4982-6CAB488B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04</a:t>
            </a:r>
            <a:r>
              <a:rPr lang="de-DE" dirty="0">
                <a:latin typeface="AVEMO Light" pitchFamily="50" charset="0"/>
              </a:rPr>
              <a:t> 	Highlights der Fahrersoftware</a:t>
            </a:r>
            <a:endParaRPr lang="de-DE" dirty="0"/>
          </a:p>
        </p:txBody>
      </p:sp>
      <p:sp>
        <p:nvSpPr>
          <p:cNvPr id="12" name="Abgerundetes Rechteck 1">
            <a:extLst>
              <a:ext uri="{FF2B5EF4-FFF2-40B4-BE49-F238E27FC236}">
                <a16:creationId xmlns:a16="http://schemas.microsoft.com/office/drawing/2014/main" id="{F826AEAA-9CB0-7BD2-FB14-70221262C62D}"/>
              </a:ext>
            </a:extLst>
          </p:cNvPr>
          <p:cNvSpPr/>
          <p:nvPr/>
        </p:nvSpPr>
        <p:spPr>
          <a:xfrm>
            <a:off x="695326" y="1118798"/>
            <a:ext cx="10613904" cy="457288"/>
          </a:xfrm>
          <a:prstGeom prst="roundRect">
            <a:avLst/>
          </a:prstGeom>
          <a:solidFill>
            <a:srgbClr val="4B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Weiteres Highlight</a:t>
            </a:r>
            <a:endParaRPr lang="de-DE" dirty="0">
              <a:solidFill>
                <a:schemeClr val="bg1"/>
              </a:solidFill>
              <a:latin typeface="AVEMO Light" pitchFamily="50" charset="0"/>
            </a:endParaRPr>
          </a:p>
        </p:txBody>
      </p:sp>
      <p:sp>
        <p:nvSpPr>
          <p:cNvPr id="15" name="Abgerundetes Rechteck 7">
            <a:extLst>
              <a:ext uri="{FF2B5EF4-FFF2-40B4-BE49-F238E27FC236}">
                <a16:creationId xmlns:a16="http://schemas.microsoft.com/office/drawing/2014/main" id="{6A945C37-CC08-DEF2-0E40-4793633EE0B5}"/>
              </a:ext>
            </a:extLst>
          </p:cNvPr>
          <p:cNvSpPr/>
          <p:nvPr/>
        </p:nvSpPr>
        <p:spPr>
          <a:xfrm>
            <a:off x="695325" y="1736228"/>
            <a:ext cx="10613904" cy="4923364"/>
          </a:xfrm>
          <a:prstGeom prst="roundRect">
            <a:avLst>
              <a:gd name="adj" fmla="val 7245"/>
            </a:avLst>
          </a:prstGeom>
          <a:solidFill>
            <a:srgbClr val="E3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 dirty="0">
              <a:solidFill>
                <a:schemeClr val="tx1"/>
              </a:solidFill>
              <a:latin typeface="AVEMO Light" pitchFamily="50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520DCC1-E86E-5765-390B-52E76A93DA2C}"/>
              </a:ext>
            </a:extLst>
          </p:cNvPr>
          <p:cNvSpPr txBox="1"/>
          <p:nvPr/>
        </p:nvSpPr>
        <p:spPr>
          <a:xfrm>
            <a:off x="882771" y="1893749"/>
            <a:ext cx="100814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AVEMO Light" pitchFamily="50" charset="0"/>
              </a:rPr>
              <a:t>Der Kunde wird per Mail aufgefordert sein Neufahrzeug zu terminieren über eine Online-Terminierung</a:t>
            </a:r>
          </a:p>
          <a:p>
            <a:endParaRPr lang="de-DE" sz="1400" dirty="0">
              <a:latin typeface="AVEMO Light" pitchFamily="50" charset="0"/>
            </a:endParaRPr>
          </a:p>
          <a:p>
            <a:r>
              <a:rPr lang="de-DE" sz="1400" dirty="0">
                <a:latin typeface="AVEMO Light" pitchFamily="50" charset="0"/>
              </a:rPr>
              <a:t>Was muss der Kunde angeben: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Wunschtermin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Wunschkennzeichen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VEMO Light" pitchFamily="50" charset="0"/>
              </a:rPr>
              <a:t>Zieladresse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VEMO Light" pitchFamily="50" charset="0"/>
            </a:endParaRPr>
          </a:p>
          <a:p>
            <a:r>
              <a:rPr lang="de-DE" sz="1400" dirty="0">
                <a:latin typeface="AVEMO Light" pitchFamily="50" charset="0"/>
              </a:rPr>
              <a:t>Der Vorgang wird dann vom Auslieferungsteam bearbeitet und der Kunde erhält eine Terminbestätigung.</a:t>
            </a:r>
          </a:p>
          <a:p>
            <a:endParaRPr lang="de-DE" sz="1400" dirty="0">
              <a:latin typeface="AVEMO Light" pitchFamily="50" charset="0"/>
            </a:endParaRPr>
          </a:p>
          <a:p>
            <a:r>
              <a:rPr lang="de-DE" sz="1400" dirty="0">
                <a:latin typeface="AVEMO Light" pitchFamily="50" charset="0"/>
              </a:rPr>
              <a:t>Annahme Zeitersparnis: </a:t>
            </a:r>
          </a:p>
          <a:p>
            <a:r>
              <a:rPr lang="de-DE" sz="1400" dirty="0">
                <a:latin typeface="AVEMO Light" pitchFamily="50" charset="0"/>
              </a:rPr>
              <a:t>1h / Fahrzeug </a:t>
            </a:r>
            <a:r>
              <a:rPr lang="de-DE" sz="1400" dirty="0">
                <a:latin typeface="AVEMO Light" pitchFamily="50" charset="0"/>
                <a:sym typeface="Wingdings" panose="05000000000000000000" pitchFamily="2" charset="2"/>
              </a:rPr>
              <a:t> 8.000 h / Jahr  8.000 x 32,4 € Stundenlohn</a:t>
            </a:r>
            <a:r>
              <a:rPr lang="de-DE" sz="1400" dirty="0">
                <a:latin typeface="AVEMO Light" pitchFamily="50" charset="0"/>
              </a:rPr>
              <a:t> = </a:t>
            </a:r>
            <a:r>
              <a:rPr lang="de-DE" sz="1400" b="1" dirty="0">
                <a:latin typeface="AVEMO Light" pitchFamily="50" charset="0"/>
              </a:rPr>
              <a:t>260.000 € pro Jahr </a:t>
            </a:r>
            <a:r>
              <a:rPr lang="de-DE" sz="1400" b="1" dirty="0">
                <a:latin typeface="AVEMO Light" pitchFamily="50" charset="0"/>
                <a:sym typeface="Wingdings" panose="05000000000000000000" pitchFamily="2" charset="2"/>
              </a:rPr>
              <a:t> 4 Mitarbeiter</a:t>
            </a:r>
            <a:endParaRPr lang="de-DE" sz="1400" b="1" dirty="0">
              <a:latin typeface="AVEM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75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DB708-3325-AD23-3977-E5CAEE4A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92D1EB2-B5C1-A80C-A4BE-EFF16076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06</a:t>
            </a:r>
            <a:r>
              <a:rPr lang="de-DE" dirty="0">
                <a:latin typeface="AVEMO Light" pitchFamily="50" charset="0"/>
              </a:rPr>
              <a:t> 	Mockups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3D688A04-94A5-B038-9355-2BAA65576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577" y="1443051"/>
            <a:ext cx="2501756" cy="523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89B592E8-D432-F60B-3ADB-C7D02B874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522" y="144045"/>
            <a:ext cx="3138955" cy="656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4">
            <a:extLst>
              <a:ext uri="{FF2B5EF4-FFF2-40B4-BE49-F238E27FC236}">
                <a16:creationId xmlns:a16="http://schemas.microsoft.com/office/drawing/2014/main" id="{1D935905-3C30-AE84-891F-F1B9EBB97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101" y="144047"/>
            <a:ext cx="3138955" cy="656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42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F952A-C772-F981-9403-9ACF8C52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D4876E7-4253-F0D0-B512-754787F0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solidFill>
                  <a:schemeClr val="accent1"/>
                </a:solidFill>
                <a:latin typeface="AVEMO Light" pitchFamily="50" charset="0"/>
              </a:rPr>
              <a:t>06</a:t>
            </a:r>
            <a:r>
              <a:rPr lang="de-DE" dirty="0">
                <a:latin typeface="AVEMO Light" pitchFamily="50" charset="0"/>
              </a:rPr>
              <a:t> 	Mockups</a:t>
            </a:r>
          </a:p>
        </p:txBody>
      </p:sp>
      <p:pic>
        <p:nvPicPr>
          <p:cNvPr id="4112" name="Picture 16">
            <a:extLst>
              <a:ext uri="{FF2B5EF4-FFF2-40B4-BE49-F238E27FC236}">
                <a16:creationId xmlns:a16="http://schemas.microsoft.com/office/drawing/2014/main" id="{5FE0B241-E85D-DEDE-B22F-B05DE6E92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181" y="116550"/>
            <a:ext cx="3102152" cy="649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>
            <a:extLst>
              <a:ext uri="{FF2B5EF4-FFF2-40B4-BE49-F238E27FC236}">
                <a16:creationId xmlns:a16="http://schemas.microsoft.com/office/drawing/2014/main" id="{8D35293A-81A2-CF60-152C-CDB381C64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937" y="116551"/>
            <a:ext cx="3102151" cy="649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10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D7D6CC9-13B5-43BA-A035-3133B846F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Dank.</a:t>
            </a:r>
          </a:p>
        </p:txBody>
      </p:sp>
    </p:spTree>
    <p:extLst>
      <p:ext uri="{BB962C8B-B14F-4D97-AF65-F5344CB8AC3E}">
        <p14:creationId xmlns:p14="http://schemas.microsoft.com/office/powerpoint/2010/main" val="295257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01_AVEMO Group_White">
  <a:themeElements>
    <a:clrScheme name="AVEMO FLEET">
      <a:dk1>
        <a:sysClr val="windowText" lastClr="000000"/>
      </a:dk1>
      <a:lt1>
        <a:sysClr val="window" lastClr="FFFFFF"/>
      </a:lt1>
      <a:dk2>
        <a:srgbClr val="1A1A1A"/>
      </a:dk2>
      <a:lt2>
        <a:srgbClr val="EEEBE9"/>
      </a:lt2>
      <a:accent1>
        <a:srgbClr val="4BB4E6"/>
      </a:accent1>
      <a:accent2>
        <a:srgbClr val="F07800"/>
      </a:accent2>
      <a:accent3>
        <a:srgbClr val="91C891"/>
      </a:accent3>
      <a:accent4>
        <a:srgbClr val="E63C69"/>
      </a:accent4>
      <a:accent5>
        <a:srgbClr val="FFF03C"/>
      </a:accent5>
      <a:accent6>
        <a:srgbClr val="E3DCDA"/>
      </a:accent6>
      <a:hlink>
        <a:srgbClr val="4BB4E6"/>
      </a:hlink>
      <a:folHlink>
        <a:srgbClr val="4BB4E6"/>
      </a:folHlink>
    </a:clrScheme>
    <a:fontScheme name="AVEMO">
      <a:majorFont>
        <a:latin typeface="AVEMO Bold"/>
        <a:ea typeface=""/>
        <a:cs typeface=""/>
      </a:majorFont>
      <a:minorFont>
        <a:latin typeface="AVEM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präsentation.pptx" id="{12B5C99F-818F-4F54-8662-9680EC2CB939}" vid="{93AB6F0E-1172-412D-82EF-AB92A60E3951}"/>
    </a:ext>
  </a:extLst>
</a:theme>
</file>

<file path=ppt/theme/theme2.xml><?xml version="1.0" encoding="utf-8"?>
<a:theme xmlns:a="http://schemas.openxmlformats.org/drawingml/2006/main" name="02_AVEMO Group_Jet-Black">
  <a:themeElements>
    <a:clrScheme name="AVEMO FLEET">
      <a:dk1>
        <a:sysClr val="windowText" lastClr="000000"/>
      </a:dk1>
      <a:lt1>
        <a:sysClr val="window" lastClr="FFFFFF"/>
      </a:lt1>
      <a:dk2>
        <a:srgbClr val="1A1A1A"/>
      </a:dk2>
      <a:lt2>
        <a:srgbClr val="EEEBE9"/>
      </a:lt2>
      <a:accent1>
        <a:srgbClr val="4BB4E6"/>
      </a:accent1>
      <a:accent2>
        <a:srgbClr val="F07800"/>
      </a:accent2>
      <a:accent3>
        <a:srgbClr val="91C891"/>
      </a:accent3>
      <a:accent4>
        <a:srgbClr val="E63C69"/>
      </a:accent4>
      <a:accent5>
        <a:srgbClr val="FFF03C"/>
      </a:accent5>
      <a:accent6>
        <a:srgbClr val="E3DCDA"/>
      </a:accent6>
      <a:hlink>
        <a:srgbClr val="4BB4E6"/>
      </a:hlink>
      <a:folHlink>
        <a:srgbClr val="4BB4E6"/>
      </a:folHlink>
    </a:clrScheme>
    <a:fontScheme name="AVEMO">
      <a:majorFont>
        <a:latin typeface="AVEMO Bold"/>
        <a:ea typeface=""/>
        <a:cs typeface=""/>
      </a:majorFont>
      <a:minorFont>
        <a:latin typeface="AVEM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präsentation.pptx" id="{12B5C99F-818F-4F54-8662-9680EC2CB939}" vid="{93AB6F0E-1172-412D-82EF-AB92A60E3951}"/>
    </a:ext>
  </a:extLst>
</a:theme>
</file>

<file path=ppt/theme/theme3.xml><?xml version="1.0" encoding="utf-8"?>
<a:theme xmlns:a="http://schemas.openxmlformats.org/drawingml/2006/main" name="Office">
  <a:themeElements>
    <a:clrScheme name="AVEMO Group">
      <a:dk1>
        <a:sysClr val="windowText" lastClr="000000"/>
      </a:dk1>
      <a:lt1>
        <a:sysClr val="window" lastClr="FFFFFF"/>
      </a:lt1>
      <a:dk2>
        <a:srgbClr val="1A1A1A"/>
      </a:dk2>
      <a:lt2>
        <a:srgbClr val="EEEBE9"/>
      </a:lt2>
      <a:accent1>
        <a:srgbClr val="F07800"/>
      </a:accent1>
      <a:accent2>
        <a:srgbClr val="4BB4E6"/>
      </a:accent2>
      <a:accent3>
        <a:srgbClr val="91C891"/>
      </a:accent3>
      <a:accent4>
        <a:srgbClr val="E63C69"/>
      </a:accent4>
      <a:accent5>
        <a:srgbClr val="FFF03C"/>
      </a:accent5>
      <a:accent6>
        <a:srgbClr val="E3DCDA"/>
      </a:accent6>
      <a:hlink>
        <a:srgbClr val="F07800"/>
      </a:hlink>
      <a:folHlink>
        <a:srgbClr val="F07800"/>
      </a:folHlink>
    </a:clrScheme>
    <a:fontScheme name="AVEMO">
      <a:majorFont>
        <a:latin typeface="AVEMO Bold"/>
        <a:ea typeface=""/>
        <a:cs typeface=""/>
      </a:majorFont>
      <a:minorFont>
        <a:latin typeface="AVEM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AVEMO Group">
      <a:dk1>
        <a:sysClr val="windowText" lastClr="000000"/>
      </a:dk1>
      <a:lt1>
        <a:sysClr val="window" lastClr="FFFFFF"/>
      </a:lt1>
      <a:dk2>
        <a:srgbClr val="1A1A1A"/>
      </a:dk2>
      <a:lt2>
        <a:srgbClr val="EEEBE9"/>
      </a:lt2>
      <a:accent1>
        <a:srgbClr val="F07800"/>
      </a:accent1>
      <a:accent2>
        <a:srgbClr val="4BB4E6"/>
      </a:accent2>
      <a:accent3>
        <a:srgbClr val="91C891"/>
      </a:accent3>
      <a:accent4>
        <a:srgbClr val="E63C69"/>
      </a:accent4>
      <a:accent5>
        <a:srgbClr val="FFF03C"/>
      </a:accent5>
      <a:accent6>
        <a:srgbClr val="E3DCDA"/>
      </a:accent6>
      <a:hlink>
        <a:srgbClr val="F07800"/>
      </a:hlink>
      <a:folHlink>
        <a:srgbClr val="F07800"/>
      </a:folHlink>
    </a:clrScheme>
    <a:fontScheme name="AVEMO">
      <a:majorFont>
        <a:latin typeface="AVEMO Bold"/>
        <a:ea typeface=""/>
        <a:cs typeface=""/>
      </a:majorFont>
      <a:minorFont>
        <a:latin typeface="AVEM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439597-a848-4fa1-b4d4-6844786eb420" xsi:nil="true"/>
    <DatumundUhrzeit xmlns="9d8db86a-ded5-4f88-96f3-eda79e4f7005" xsi:nil="true"/>
    <lcf76f155ced4ddcb4097134ff3c332f xmlns="9d8db86a-ded5-4f88-96f3-eda79e4f7005">
      <Terms xmlns="http://schemas.microsoft.com/office/infopath/2007/PartnerControls"/>
    </lcf76f155ced4ddcb4097134ff3c332f>
    <Link xmlns="9d8db86a-ded5-4f88-96f3-eda79e4f7005">
      <Url xsi:nil="true"/>
      <Description xsi:nil="true"/>
    </Link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B3BB184388DFC44965C71518B0E2373" ma:contentTypeVersion="16" ma:contentTypeDescription="Ein neues Dokument erstellen." ma:contentTypeScope="" ma:versionID="2fe85ded396e44808f3ca44232907f5e">
  <xsd:schema xmlns:xsd="http://www.w3.org/2001/XMLSchema" xmlns:xs="http://www.w3.org/2001/XMLSchema" xmlns:p="http://schemas.microsoft.com/office/2006/metadata/properties" xmlns:ns2="9d8db86a-ded5-4f88-96f3-eda79e4f7005" xmlns:ns3="36439597-a848-4fa1-b4d4-6844786eb420" targetNamespace="http://schemas.microsoft.com/office/2006/metadata/properties" ma:root="true" ma:fieldsID="8c470fd5262923dba299cbf17238e849" ns2:_="" ns3:_="">
    <xsd:import namespace="9d8db86a-ded5-4f88-96f3-eda79e4f7005"/>
    <xsd:import namespace="36439597-a848-4fa1-b4d4-6844786eb420"/>
    <xsd:element name="properties">
      <xsd:complexType>
        <xsd:sequence>
          <xsd:element name="documentManagement">
            <xsd:complexType>
              <xsd:all>
                <xsd:element ref="ns2:DatumundUhrzeit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db86a-ded5-4f88-96f3-eda79e4f7005" elementFormDefault="qualified">
    <xsd:import namespace="http://schemas.microsoft.com/office/2006/documentManagement/types"/>
    <xsd:import namespace="http://schemas.microsoft.com/office/infopath/2007/PartnerControls"/>
    <xsd:element name="DatumundUhrzeit" ma:index="3" nillable="true" ma:displayName="Datum und Uhrzeit" ma:format="DateOnly" ma:internalName="DatumundUhrzeit" ma:readOnly="false">
      <xsd:simpleType>
        <xsd:restriction base="dms:DateTime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605cf56a-e31c-41f3-ba46-1ffb305808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Link" ma:index="22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439597-a848-4fa1-b4d4-6844786eb420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e58548-c317-4f54-8ee3-34beacab29fd}" ma:internalName="TaxCatchAll" ma:readOnly="false" ma:showField="CatchAllData" ma:web="36439597-a848-4fa1-b4d4-6844786eb4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1E4F58-C410-45B8-9498-331F13DAA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C8FFE7-4217-4DF0-AE4F-F9EDFDE78A1D}">
  <ds:schemaRefs>
    <ds:schemaRef ds:uri="http://schemas.microsoft.com/office/2006/metadata/properties"/>
    <ds:schemaRef ds:uri="http://schemas.microsoft.com/office/infopath/2007/PartnerControls"/>
    <ds:schemaRef ds:uri="36439597-a848-4fa1-b4d4-6844786eb420"/>
    <ds:schemaRef ds:uri="9d8db86a-ded5-4f88-96f3-eda79e4f7005"/>
  </ds:schemaRefs>
</ds:datastoreItem>
</file>

<file path=customXml/itemProps3.xml><?xml version="1.0" encoding="utf-8"?>
<ds:datastoreItem xmlns:ds="http://schemas.openxmlformats.org/officeDocument/2006/customXml" ds:itemID="{AC7E5B4F-3C97-43ED-A11A-F0D7301F60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8db86a-ded5-4f88-96f3-eda79e4f7005"/>
    <ds:schemaRef ds:uri="36439597-a848-4fa1-b4d4-6844786eb4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Masterpräsentation</Template>
  <TotalTime>0</TotalTime>
  <Words>1488</Words>
  <Application>Microsoft Office PowerPoint</Application>
  <PresentationFormat>Breitbild</PresentationFormat>
  <Paragraphs>240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AVEMO</vt:lpstr>
      <vt:lpstr>AVEMO Light</vt:lpstr>
      <vt:lpstr>Arial</vt:lpstr>
      <vt:lpstr>AVEMO Bold</vt:lpstr>
      <vt:lpstr>01_AVEMO Group_White</vt:lpstr>
      <vt:lpstr>02_AVEMO Group_Jet-Black</vt:lpstr>
      <vt:lpstr> Fahrersoftware</vt:lpstr>
      <vt:lpstr>Agenda</vt:lpstr>
      <vt:lpstr>01  Aktuelle Situation in der AVEMO Group</vt:lpstr>
      <vt:lpstr>01  Aktuelle Situation in der AVEMO Group</vt:lpstr>
      <vt:lpstr>01  Aktuelle Situation in der AVEMO Group</vt:lpstr>
      <vt:lpstr>02  Die Zukunft mit der Fahrersoftware</vt:lpstr>
      <vt:lpstr>03  Analyse verschiedener Anbieter</vt:lpstr>
      <vt:lpstr>03  Analyse verschiedener Anbieter</vt:lpstr>
      <vt:lpstr>04  Highlights der Fahrersoftware</vt:lpstr>
      <vt:lpstr>04  Highlights der Fahrersoftware</vt:lpstr>
      <vt:lpstr>04  Highlights der Fahrersoftware</vt:lpstr>
      <vt:lpstr>04  Highlights der Fahrersoftware</vt:lpstr>
      <vt:lpstr>04  Highlights der Fahrersoftware</vt:lpstr>
      <vt:lpstr>04  Highlights der Fahrersoftware</vt:lpstr>
      <vt:lpstr>04  Highlights der Fahrersoftware</vt:lpstr>
      <vt:lpstr>04  Highlights der Fahrersoftware</vt:lpstr>
      <vt:lpstr>04  Highlights der Fahrersoftware</vt:lpstr>
      <vt:lpstr>04  Highlights der Fahrersoftware</vt:lpstr>
      <vt:lpstr>06  Mockups</vt:lpstr>
      <vt:lpstr>06  Mockups</vt:lpstr>
      <vt:lpstr>Vielen Dank.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Felix Preuß</dc:creator>
  <cp:lastModifiedBy>Stefan Moritz</cp:lastModifiedBy>
  <cp:revision>48</cp:revision>
  <dcterms:created xsi:type="dcterms:W3CDTF">2023-11-23T14:19:36Z</dcterms:created>
  <dcterms:modified xsi:type="dcterms:W3CDTF">2026-01-20T16:07:44Z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0x0101006B3BB184388DFC44965C71518B0E2373</vt:lpwstr>
  </property>
</Properties>
</file>