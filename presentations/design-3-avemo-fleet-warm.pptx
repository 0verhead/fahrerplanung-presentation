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300000">
            <a:off x="-914400" y="5303520"/>
            <a:ext cx="6400800" cy="18288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BB4E6"/>
                </a:solidFill>
                <a:latin typeface="Segoe UI"/>
              </a:defRPr>
            </a:pPr>
            <a:r>
              <a:t>AVEMO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800" b="1">
                <a:solidFill>
                  <a:srgbClr val="181615"/>
                </a:solidFill>
                <a:latin typeface="Segoe UI Light"/>
              </a:defRPr>
            </a:pPr>
            <a:r>
              <a:t>Fahrersoftware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91840"/>
            <a:ext cx="1828800" cy="4572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B544C"/>
                </a:solidFill>
                <a:latin typeface="Segoe UI"/>
              </a:defRPr>
            </a:pPr>
            <a:r>
              <a:t>Vorstellung in der Geschäftsführerrunde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BB4E6"/>
                </a:solidFill>
                <a:latin typeface="Segoe UI Light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1615"/>
                </a:solidFill>
                <a:latin typeface="Segoe UI"/>
              </a:defRPr>
            </a:pPr>
            <a:r>
              <a:t>Aktuelle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949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39496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615"/>
                </a:solidFill>
                <a:latin typeface="Segoe UI"/>
              </a:defRPr>
            </a:pPr>
            <a:r>
              <a:t>Isolierte Standorte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0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544C"/>
                </a:solidFill>
                <a:latin typeface="Segoe UI"/>
              </a:defRPr>
            </a:pPr>
            <a:r>
              <a:t>Keine Synergien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949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39496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615"/>
                </a:solidFill>
                <a:latin typeface="Segoe UI"/>
              </a:defRPr>
            </a:pPr>
            <a:r>
              <a:t>Manuelle Prozesse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544C"/>
                </a:solidFill>
                <a:latin typeface="Segoe UI"/>
              </a:defRPr>
            </a:pPr>
            <a:r>
              <a:t>Excel &amp; Outlook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53949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566160"/>
            <a:ext cx="539496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615"/>
                </a:solidFill>
                <a:latin typeface="Segoe UI"/>
              </a:defRPr>
            </a:pPr>
            <a:r>
              <a:t>Keine KPIs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544C"/>
                </a:solidFill>
                <a:latin typeface="Segoe UI"/>
              </a:defRPr>
            </a:pPr>
            <a:r>
              <a:t>Bauchgefühl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53949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539496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49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81615"/>
                </a:solidFill>
                <a:latin typeface="Segoe UI"/>
              </a:defRPr>
            </a:pPr>
            <a:r>
              <a:t>Ineffizienz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0624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544C"/>
                </a:solidFill>
                <a:latin typeface="Segoe UI"/>
              </a:defRPr>
            </a:pPr>
            <a:r>
              <a:t>2,5h Leerlauf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43600"/>
            <a:ext cx="4114800" cy="4572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60167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81615"/>
                </a:solidFill>
                <a:latin typeface="Segoe UI"/>
              </a:defRPr>
            </a:pPr>
            <a:r>
              <a:t>Kernprobleme: Keine Synergien • Manuelle Prozesse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BB4E6"/>
                </a:solidFill>
                <a:latin typeface="Segoe UI Light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1615"/>
                </a:solidFill>
                <a:latin typeface="Segoe UI"/>
              </a:defRPr>
            </a:pPr>
            <a:r>
              <a:t>Die Zukunft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81615"/>
                </a:solidFill>
                <a:latin typeface="Segoe UI"/>
              </a:defRPr>
            </a:pPr>
            <a:r>
              <a:t>Synergien nutzen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81615"/>
                </a:solidFill>
                <a:latin typeface="Segoe UI"/>
              </a:defRPr>
            </a:pPr>
            <a:r>
              <a:t>Effizienz steigern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81615"/>
                </a:solidFill>
                <a:latin typeface="Segoe UI"/>
              </a:defRPr>
            </a:pPr>
            <a:r>
              <a:t>KPIs sichtbar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1188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0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81615"/>
                </a:solidFill>
                <a:latin typeface="Segoe UI"/>
              </a:defRPr>
            </a:pPr>
            <a:r>
              <a:t>Automatisierung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91440" cy="9144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97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81615"/>
                </a:solidFill>
                <a:latin typeface="Segoe UI"/>
              </a:defRPr>
            </a:pPr>
            <a:r>
              <a:t>Professionalität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005840"/>
            <a:ext cx="53035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005840"/>
            <a:ext cx="530352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BB4E6"/>
                </a:solidFill>
                <a:latin typeface="Segoe UI"/>
              </a:defRPr>
            </a:pPr>
            <a:r>
              <a:t>EINSPARPOTENTIAL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8288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81615"/>
                </a:solidFill>
                <a:latin typeface="Segoe UI Light"/>
              </a:defRPr>
            </a:pPr>
            <a:r>
              <a:t>260.000 €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B544C"/>
                </a:solidFill>
                <a:latin typeface="Segoe UI"/>
              </a:defRPr>
            </a:pPr>
            <a:r>
              <a:t>pro Jahr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4747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FD14F"/>
                </a:solidFill>
                <a:latin typeface="Segoe UI"/>
              </a:defRPr>
            </a:pPr>
            <a:r>
              <a:t>8.000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544C"/>
                </a:solidFill>
                <a:latin typeface="Segoe UI"/>
              </a:defRPr>
            </a:pPr>
            <a:r>
              <a:t>Zeitersparnis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0233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FD14F"/>
                </a:solidFill>
                <a:latin typeface="Segoe UI"/>
              </a:defRPr>
            </a:pPr>
            <a:r>
              <a:t>4 FTE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069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544C"/>
                </a:solidFill>
                <a:latin typeface="Segoe UI"/>
              </a:defRPr>
            </a:pPr>
            <a:r>
              <a:t>Kapazität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72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FD14F"/>
                </a:solidFill>
                <a:latin typeface="Segoe UI"/>
              </a:defRPr>
            </a:pPr>
            <a:r>
              <a:t>1h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544C"/>
                </a:solidFill>
                <a:latin typeface="Segoe UI"/>
              </a:defRPr>
            </a:pPr>
            <a:r>
              <a:t>pro Fahrzeug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365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BB4E6"/>
                </a:solidFill>
                <a:latin typeface="Segoe UI Light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11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81615"/>
                </a:solidFill>
                <a:latin typeface="Segoe UI"/>
              </a:defRPr>
            </a:pPr>
            <a:r>
              <a:t>MVP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566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56616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615"/>
                </a:solidFill>
                <a:latin typeface="Segoe UI"/>
              </a:defRPr>
            </a:pPr>
            <a:r>
              <a:t>Algorithmus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544C"/>
                </a:solidFill>
                <a:latin typeface="Segoe UI"/>
              </a:defRPr>
            </a:pPr>
            <a:r>
              <a:t>Planung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097280"/>
            <a:ext cx="3566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97280"/>
            <a:ext cx="356616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615"/>
                </a:solidFill>
                <a:latin typeface="Segoe UI"/>
              </a:defRPr>
            </a:pPr>
            <a:r>
              <a:t>Fahrer-App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916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544C"/>
                </a:solidFill>
                <a:latin typeface="Segoe UI"/>
              </a:defRPr>
            </a:pPr>
            <a:r>
              <a:t>Protokolle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097280"/>
            <a:ext cx="3566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97280"/>
            <a:ext cx="356616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615"/>
                </a:solidFill>
                <a:latin typeface="Segoe UI"/>
              </a:defRPr>
            </a:pPr>
            <a:r>
              <a:t>Backoffice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9164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544C"/>
                </a:solidFill>
                <a:latin typeface="Segoe UI"/>
              </a:defRPr>
            </a:pPr>
            <a:r>
              <a:t>Disposition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3566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66160"/>
            <a:ext cx="356616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615"/>
                </a:solidFill>
                <a:latin typeface="Segoe UI"/>
              </a:defRPr>
            </a:pPr>
            <a:r>
              <a:t>Dienstleister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1605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544C"/>
                </a:solidFill>
                <a:latin typeface="Segoe UI"/>
              </a:defRPr>
            </a:pPr>
            <a:r>
              <a:t>Portal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3566160"/>
            <a:ext cx="3566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3566160"/>
            <a:ext cx="356616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615"/>
                </a:solidFill>
                <a:latin typeface="Segoe UI"/>
              </a:defRPr>
            </a:pPr>
            <a:r>
              <a:t>Monitoring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1605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544C"/>
                </a:solidFill>
                <a:latin typeface="Segoe UI"/>
              </a:defRPr>
            </a:pPr>
            <a: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566160"/>
            <a:ext cx="35661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566160"/>
            <a:ext cx="356616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749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81615"/>
                </a:solidFill>
                <a:latin typeface="Segoe UI"/>
              </a:defRPr>
            </a:pPr>
            <a:r>
              <a:t>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1605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B544C"/>
                </a:solidFill>
                <a:latin typeface="Segoe UI"/>
              </a:defRPr>
            </a:pPr>
            <a:r>
              <a:t>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300000">
            <a:off x="-914400" y="5303520"/>
            <a:ext cx="6400800" cy="1828800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81615"/>
                </a:solidFill>
                <a:latin typeface="Segoe UI Light"/>
              </a:defRPr>
            </a:pPr>
            <a:r>
              <a:t>Vielen Dank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990" y="3200400"/>
            <a:ext cx="1828800" cy="36576"/>
          </a:xfrm>
          <a:prstGeom prst="rect">
            <a:avLst/>
          </a:prstGeom>
          <a:solidFill>
            <a:srgbClr val="4B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B544C"/>
                </a:solidFill>
                <a:latin typeface="Segoe UI"/>
              </a:defRPr>
            </a:pPr>
            <a:r>
              <a:t>AVEMO FLEET  •  Fahrersoftware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