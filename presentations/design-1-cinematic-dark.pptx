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914400"/>
            <a:ext cx="5486400" cy="5486400"/>
          </a:xfrm>
          <a:prstGeom prst="ellipse">
            <a:avLst/>
          </a:prstGeom>
          <a:solidFill>
            <a:srgbClr val="FF793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FFFFFF"/>
                </a:solidFill>
                <a:latin typeface="Arial Black"/>
              </a:defRPr>
            </a:pPr>
            <a:r>
              <a:t>Fahrersoftware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7932"/>
                </a:solidFill>
                <a:latin typeface="Arial"/>
              </a:defRPr>
            </a:pPr>
            <a:r>
              <a:t>Die Zukunft der Fahrzeugdisposition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6400800" cy="1371600"/>
          </a:xfrm>
          <a:prstGeom prst="roundRect">
            <a:avLst/>
          </a:prstGeom>
          <a:solidFill>
            <a:srgbClr val="1A1A1A">
              <a:alpha val="70000"/>
            </a:srgbClr>
          </a:solidFill>
          <a:ln w="25400">
            <a:solidFill>
              <a:srgbClr val="FF7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rial"/>
              </a:defRPr>
            </a:pPr>
            <a:r>
              <a:t>Eine Software für alle Standorte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932"/>
                </a:solidFill>
                <a:latin typeface="Arial"/>
              </a:defRPr>
            </a:pPr>
            <a:r>
              <a:t>DAS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Aktuelle Herausforderungen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3657600" cy="777240"/>
          </a:xfrm>
          <a:prstGeom prst="roundRect">
            <a:avLst/>
          </a:prstGeom>
          <a:solidFill>
            <a:srgbClr val="222222">
              <a:alpha val="60000"/>
            </a:srgbClr>
          </a:solidFill>
          <a:ln w="12700">
            <a:solidFill>
              <a:srgbClr val="FF7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Isolierte Standorte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Arial"/>
              </a:defRPr>
            </a:pPr>
            <a:r>
              <a:t>Keine Vernetzung zwischen den Niederlassungen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657600"/>
            <a:ext cx="3657600" cy="777240"/>
          </a:xfrm>
          <a:prstGeom prst="roundRect">
            <a:avLst/>
          </a:prstGeom>
          <a:solidFill>
            <a:srgbClr val="222222">
              <a:alpha val="60000"/>
            </a:srgbClr>
          </a:solidFill>
          <a:ln w="12700">
            <a:solidFill>
              <a:srgbClr val="FF7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Manuelle Prozesse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Arial"/>
              </a:defRPr>
            </a:pPr>
            <a:r>
              <a:t>Excel, Outlook &amp; Kalender führen zu Chaos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572000"/>
            <a:ext cx="3657600" cy="777240"/>
          </a:xfrm>
          <a:prstGeom prst="roundRect">
            <a:avLst/>
          </a:prstGeom>
          <a:solidFill>
            <a:srgbClr val="222222">
              <a:alpha val="60000"/>
            </a:srgbClr>
          </a:solidFill>
          <a:ln w="12700">
            <a:solidFill>
              <a:srgbClr val="FF7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709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Fehlende Daten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83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Arial"/>
              </a:defRPr>
            </a:pPr>
            <a:r>
              <a:t>Keine KPIs, keine Optimierung möglich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486400"/>
            <a:ext cx="3657600" cy="777240"/>
          </a:xfrm>
          <a:prstGeom prst="roundRect">
            <a:avLst/>
          </a:prstGeom>
          <a:solidFill>
            <a:srgbClr val="222222">
              <a:alpha val="60000"/>
            </a:srgbClr>
          </a:solidFill>
          <a:ln w="12700">
            <a:solidFill>
              <a:srgbClr val="FF7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623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Hohe Leerlaufzeit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Arial"/>
              </a:defRPr>
            </a:pPr>
            <a:r>
              <a:t>2,5 Stunden täglich pro Fahrzeug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7432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FF7932"/>
                </a:solidFill>
                <a:latin typeface="Arial"/>
              </a:defRPr>
            </a:pPr>
            <a:r>
              <a:t>30 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572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t>durchschnittliche Wartezeit auf Fahrzeuge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0700000">
            <a:off x="-1828800" y="4572000"/>
            <a:ext cx="18288000" cy="3657600"/>
          </a:xfrm>
          <a:prstGeom prst="rect">
            <a:avLst/>
          </a:prstGeom>
          <a:solidFill>
            <a:srgbClr val="FF793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932"/>
                </a:solidFill>
                <a:latin typeface="Arial"/>
              </a:defRPr>
            </a:pPr>
            <a:r>
              <a:t>DIE LÖSUNG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Eine Software für alle Standorte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73152" cy="1097280"/>
          </a:xfrm>
          <a:prstGeom prst="rect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Synergien nutzen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Arial"/>
              </a:defRPr>
            </a:pPr>
            <a:r>
              <a:t>Vernetzung aller Standorte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743200"/>
            <a:ext cx="73152" cy="1097280"/>
          </a:xfrm>
          <a:prstGeom prst="rect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Effizienz steigern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246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Arial"/>
              </a:defRPr>
            </a:pPr>
            <a:r>
              <a:t>Optimierte Fahrzeugnutzung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389120"/>
            <a:ext cx="73152" cy="1097280"/>
          </a:xfrm>
          <a:prstGeom prst="rect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Automatisierung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92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Arial"/>
              </a:defRPr>
            </a:pPr>
            <a:r>
              <a:t>Weniger manuelle Arbeit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389120"/>
            <a:ext cx="73152" cy="1097280"/>
          </a:xfrm>
          <a:prstGeom prst="rect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Kosteneinsparung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892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Arial"/>
              </a:defRPr>
            </a:pPr>
            <a:r>
              <a:t>Potenzial von 260.000 € pro Jahr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7932"/>
                </a:solidFill>
                <a:latin typeface="Arial"/>
              </a:defRPr>
            </a:pPr>
            <a:r>
              <a:t>MINIMUM VIABLE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Die Kernfunktionen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291840" cy="1645920"/>
          </a:xfrm>
          <a:prstGeom prst="roundRect">
            <a:avLst/>
          </a:prstGeom>
          <a:solidFill>
            <a:srgbClr val="1A1A1A">
              <a:alpha val="50000"/>
            </a:srgbClr>
          </a:solidFill>
          <a:ln w="19050">
            <a:solidFill>
              <a:srgbClr val="FF7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7932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Optimierter Planungs- algorithmus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286000"/>
            <a:ext cx="3291840" cy="1645920"/>
          </a:xfrm>
          <a:prstGeom prst="roundRect">
            <a:avLst/>
          </a:prstGeom>
          <a:solidFill>
            <a:srgbClr val="1A1A1A">
              <a:alpha val="50000"/>
            </a:srgbClr>
          </a:solidFill>
          <a:ln w="19050">
            <a:solidFill>
              <a:srgbClr val="FF7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423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7932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9260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Intuitive Driver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286000"/>
            <a:ext cx="3291840" cy="1645920"/>
          </a:xfrm>
          <a:prstGeom prst="roundRect">
            <a:avLst/>
          </a:prstGeom>
          <a:solidFill>
            <a:srgbClr val="1A1A1A">
              <a:alpha val="50000"/>
            </a:srgbClr>
          </a:solidFill>
          <a:ln w="19050">
            <a:solidFill>
              <a:srgbClr val="FF7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423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7932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9260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Modernes Web- Backoffice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3291840" cy="1645920"/>
          </a:xfrm>
          <a:prstGeom prst="roundRect">
            <a:avLst/>
          </a:prstGeom>
          <a:solidFill>
            <a:srgbClr val="1A1A1A">
              <a:alpha val="50000"/>
            </a:srgbClr>
          </a:solidFill>
          <a:ln w="19050">
            <a:solidFill>
              <a:srgbClr val="FF7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34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7932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377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Integration externer Dienstleister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297680"/>
            <a:ext cx="3291840" cy="1645920"/>
          </a:xfrm>
          <a:prstGeom prst="roundRect">
            <a:avLst/>
          </a:prstGeom>
          <a:solidFill>
            <a:srgbClr val="1A1A1A">
              <a:alpha val="50000"/>
            </a:srgbClr>
          </a:solidFill>
          <a:ln w="19050">
            <a:solidFill>
              <a:srgbClr val="FF7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434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7932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9377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Live-Monitoring Dashboard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4297680"/>
            <a:ext cx="3291840" cy="1645920"/>
          </a:xfrm>
          <a:prstGeom prst="roundRect">
            <a:avLst/>
          </a:prstGeom>
          <a:solidFill>
            <a:srgbClr val="1A1A1A">
              <a:alpha val="50000"/>
            </a:srgbClr>
          </a:solidFill>
          <a:ln w="19050">
            <a:solidFill>
              <a:srgbClr val="FF7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434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7932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9377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Automatisiertes 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-1828800"/>
            <a:ext cx="9144000" cy="10972800"/>
          </a:xfrm>
          <a:prstGeom prst="ellipse">
            <a:avLst/>
          </a:prstGeom>
          <a:solidFill>
            <a:srgbClr val="FF793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Bereit für die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FF7932"/>
                </a:solidFill>
                <a:latin typeface="Arial"/>
              </a:defRPr>
            </a:pPr>
            <a:r>
              <a:t>Zukunft?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Arial"/>
              </a:defRPr>
            </a:pPr>
            <a:r>
              <a:t>Gemeinsam gestalten wir die digitale Transformation Ihrer Fahrzeugdisposition.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217920"/>
            <a:ext cx="1828800" cy="54864"/>
          </a:xfrm>
          <a:prstGeom prst="rect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