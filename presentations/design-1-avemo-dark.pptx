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240000">
            <a:off x="-1828800" y="5029200"/>
            <a:ext cx="8229600" cy="2286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B4E6"/>
                </a:solidFill>
                <a:latin typeface="Segoe UI"/>
              </a:defRPr>
            </a:pPr>
            <a:r>
              <a:t>AVEMO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0">
                <a:solidFill>
                  <a:srgbClr val="FFFFFF"/>
                </a:solidFill>
                <a:latin typeface="Segoe UI Light"/>
              </a:defRPr>
            </a:pPr>
            <a:r>
              <a:t>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828800" cy="4572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BD6D1"/>
                </a:solidFill>
                <a:latin typeface="Segoe UI"/>
              </a:defRPr>
            </a:pPr>
            <a:r>
              <a:t>Vorstellung in der Geschäftsführerrunde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Digitale Transformation der Fahrerplanung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BB4E6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Aktuelle Situation in der AVEMO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19456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Isolierte Standorte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Jeder Standort organisiert sich selbst</a:t>
            </a:r>
            <a:br/>
            <a:r>
              <a:t>Keine Synergien zwischen Fahrdiensten</a:t>
            </a:r>
            <a:br/>
            <a:r>
              <a:t>Doppelte Arbeit, keine Abstimmung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219456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Einplanung in Outlook und Excel</a:t>
            </a:r>
            <a:br/>
            <a:r>
              <a:t>Telefonische Fahrerabfrage</a:t>
            </a:r>
            <a:br/>
            <a:r>
              <a:t>Mehrfache Dateneingabe nötig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40"/>
            <a:ext cx="5577840" cy="219456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40"/>
            <a:ext cx="557784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Fehlende Transparenz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Keine KPIs zum Fahrereinsatz</a:t>
            </a:r>
            <a:br/>
            <a:r>
              <a:t>Abrechnung auf Vertrauensbasis</a:t>
            </a:r>
            <a:br/>
            <a:r>
              <a:t>Reporting ist reines Bauchgefühl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577840" cy="219456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557784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Ineffiziente Abläufe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30 Tage bis zur Auslieferung</a:t>
            </a:r>
            <a:br/>
            <a:r>
              <a:t>2,5h Leerlaufzeit pro Tag (H&amp;B)</a:t>
            </a:r>
            <a:br/>
            <a:r>
              <a:t>Dokumente gehen verloren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217920"/>
            <a:ext cx="4572000" cy="4572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291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615"/>
                </a:solidFill>
                <a:latin typeface="Segoe UI"/>
              </a:defRPr>
            </a:pPr>
            <a:r>
              <a:t>2,5h Leerlaufzeit/Tag  •  30 Tage Wartezeit  •  0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BB4E6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Die Zukunft mit der 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Synergien gruppenübergreifend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Fahrdienste arbeiten standortübergreifend zusammen, nutzen Schwarmintelligenz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Effizienzsteigerung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Optimaler Fahrereinsatz, mehr Fahrten ohne neues Personal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KPIs &amp; 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Messbare Kennzahlen, Echtzeit-Reporting, transparente Abrechnungen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1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Automatisierung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Digitale Prozesse ersetzen Excel und Outlook, weniger Fehler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Professioneller Auftritt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Kunden erhalten Updates zum Liefertermin, innovatives Image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5303520" cy="484632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097280"/>
            <a:ext cx="530352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B4E6"/>
                </a:solidFill>
                <a:latin typeface="Segoe UI"/>
              </a:defRPr>
            </a:pPr>
            <a:r>
              <a:t>EINSPARPOTENTIAL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BD6D1"/>
                </a:solidFill>
                <a:latin typeface="Segoe UI"/>
              </a:defRPr>
            </a:pPr>
            <a:r>
              <a:t>pro Jahr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474720"/>
            <a:ext cx="4572000" cy="9144"/>
          </a:xfrm>
          <a:prstGeom prst="rect">
            <a:avLst/>
          </a:prstGeom>
          <a:solidFill>
            <a:srgbClr val="5B5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D14F"/>
                </a:solidFill>
                <a:latin typeface="Segoe UI"/>
              </a:defRPr>
            </a:pPr>
            <a:r>
              <a:t>8.000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Zeitersparnis / Jahr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D14F"/>
                </a:solidFill>
                <a:latin typeface="Segoe UI"/>
              </a:defRPr>
            </a:pPr>
            <a:r>
              <a:t>4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6227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Äquivalent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0291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FD14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10235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BD6D1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BB4E6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MVP Highlights der 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Planungsalgorithmus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Automatisierter Tagesplan</a:t>
            </a:r>
            <a:br/>
            <a:r>
              <a:t>Interne Fahrer optimal auslasten</a:t>
            </a:r>
            <a:br/>
            <a:r>
              <a:t>Gesamtkosten minimieren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GeNesys &amp; KDV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Tages-/Wochenübersicht</a:t>
            </a:r>
            <a:br/>
            <a:r>
              <a:t>Digitale Protokolle mit Foto</a:t>
            </a:r>
            <a:br/>
            <a:r>
              <a:t>Offline-fähig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15468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1729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iOS &amp; Android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Web-Backoffice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83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Disposition &amp; Planung</a:t>
            </a:r>
            <a:br/>
            <a:r>
              <a:t>Fahrtenliste &amp; Kalender</a:t>
            </a:r>
            <a:br/>
            <a:r>
              <a:t>Live-Monitoring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15468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1729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Alle Rollen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Externe Dienstleister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Zuweisung &amp; Annahme</a:t>
            </a:r>
            <a:br/>
            <a:r>
              <a:t>Kostenerfassung pro Fahrt</a:t>
            </a:r>
            <a:br/>
            <a:r>
              <a:t>Portalzugang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790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Transparenz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79476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79476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Live-Status aller Fahrten</a:t>
            </a:r>
            <a:br/>
            <a:r>
              <a:t>Benachrichtigungen</a:t>
            </a:r>
            <a:br/>
            <a:r>
              <a:t>Änderungshistorie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576072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7790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Echtzeit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94760"/>
            <a:ext cx="3657600" cy="2377440"/>
          </a:xfrm>
          <a:prstGeom prst="rect">
            <a:avLst/>
          </a:prstGeom>
          <a:solidFill>
            <a:srgbClr val="24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794760"/>
            <a:ext cx="36576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BD6D1"/>
                </a:solidFill>
                <a:latin typeface="Segoe UI"/>
              </a:defRPr>
            </a:pPr>
            <a:r>
              <a:t>Auslastungsanalyse</a:t>
            </a:r>
            <a:br/>
            <a:r>
              <a:t>Kostenauswertung intern/extern</a:t>
            </a:r>
            <a:br/>
            <a:r>
              <a:t>Excel-Export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760720"/>
            <a:ext cx="1371600" cy="256032"/>
          </a:xfrm>
          <a:prstGeom prst="rect">
            <a:avLst/>
          </a:prstGeom>
          <a:solidFill>
            <a:srgbClr val="30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7790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B4E6"/>
                </a:solidFill>
                <a:latin typeface="Segoe UI"/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240000">
            <a:off x="-1828800" y="5029200"/>
            <a:ext cx="8229600" cy="2286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Segoe UI Light"/>
              </a:defRPr>
            </a:pPr>
            <a:r>
              <a:t>Vielen Dank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3790" y="3108960"/>
            <a:ext cx="27432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BD6D1"/>
                </a:solidFill>
                <a:latin typeface="Segoe UI"/>
              </a:defRPr>
            </a:pPr>
            <a:r>
              <a:t>Synergien gruppenübergreifend nutzen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BD6D1"/>
                </a:solidFill>
                <a:latin typeface="Segoe UI"/>
              </a:defRPr>
            </a:pPr>
            <a:r>
              <a:t>260.000 € Einsparpotential pro Jahr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BD6D1"/>
                </a:solidFill>
                <a:latin typeface="Segoe UI"/>
              </a:defRPr>
            </a:pPr>
            <a:r>
              <a:t>Effizienz durch Automatisierung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544C"/>
                </a:solidFill>
                <a:latin typeface="Segoe UI"/>
              </a:defRPr>
            </a:pPr>
            <a:r>
              <a:t>AVEMO FLEET  • 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