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0700000">
            <a:off x="7315200" y="-914400"/>
            <a:ext cx="7315200" cy="2286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0700000">
            <a:off x="8229600" y="-457200"/>
            <a:ext cx="5486400" cy="1371600"/>
          </a:xfrm>
          <a:prstGeom prst="rect">
            <a:avLst/>
          </a:prstGeom>
          <a:solidFill>
            <a:srgbClr val="2D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017520"/>
            <a:ext cx="73152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Calibri Light"/>
              </a:defRPr>
            </a:pPr>
            <a:r>
              <a:t>FAHRERSOFTWARE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8C5D3"/>
                </a:solidFill>
                <a:latin typeface="Calibri"/>
              </a:defRPr>
            </a:pPr>
            <a:r>
              <a:t>Vorstellung in der Geschäftsführerrunde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5120640"/>
            <a:ext cx="3657600" cy="1097280"/>
          </a:xfrm>
          <a:prstGeom prst="rect">
            <a:avLst/>
          </a:prstGeom>
          <a:solidFill>
            <a:srgbClr val="05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5029200"/>
            <a:ext cx="36576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5029200"/>
            <a:ext cx="36576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Calibri"/>
              </a:defRPr>
            </a:pPr>
            <a:r>
              <a:t>AVEMO GROUP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669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8C5D3"/>
                </a:solidFill>
                <a:latin typeface="Calibri"/>
              </a:defRPr>
            </a:pPr>
            <a:r>
              <a:t>Executive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01  AKTUELLE SITUATION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37360"/>
            <a:ext cx="5029200" cy="1828800"/>
          </a:xfrm>
          <a:prstGeom prst="rect">
            <a:avLst/>
          </a:prstGeom>
          <a:solidFill>
            <a:srgbClr val="05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029200" cy="1828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0292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Calibri"/>
              </a:defRPr>
            </a:pPr>
            <a:r>
              <a:t>Isolierte Standorte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6888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C5D3"/>
                </a:solidFill>
                <a:latin typeface="Calibri"/>
              </a:defRPr>
            </a:pPr>
            <a:r>
              <a:t>Jeder Standort organisiert sich selbst ohne Synergien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737360"/>
            <a:ext cx="5029200" cy="1828800"/>
          </a:xfrm>
          <a:prstGeom prst="rect">
            <a:avLst/>
          </a:prstGeom>
          <a:solidFill>
            <a:srgbClr val="05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645920"/>
            <a:ext cx="5029200" cy="1828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50292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92024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Calibri"/>
              </a:defRPr>
            </a:pPr>
            <a:r>
              <a:t>Manuelle Prozesse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46888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C5D3"/>
                </a:solidFill>
                <a:latin typeface="Calibri"/>
              </a:defRPr>
            </a:pPr>
            <a:r>
              <a:t>Excel-Listen, Outlook-Planung, doppelte Dateneingabe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931920"/>
            <a:ext cx="5029200" cy="1828800"/>
          </a:xfrm>
          <a:prstGeom prst="rect">
            <a:avLst/>
          </a:prstGeom>
          <a:solidFill>
            <a:srgbClr val="05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5029200" cy="1828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840480"/>
            <a:ext cx="50292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114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Calibri"/>
              </a:defRPr>
            </a:pPr>
            <a:r>
              <a:t>Fehlende Transparenz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6344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C5D3"/>
                </a:solidFill>
                <a:latin typeface="Calibri"/>
              </a:defRPr>
            </a:pPr>
            <a:r>
              <a:t>Keine KPIs, keine Auswertungen, Bauchgefühl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931920"/>
            <a:ext cx="5029200" cy="1828800"/>
          </a:xfrm>
          <a:prstGeom prst="rect">
            <a:avLst/>
          </a:prstGeom>
          <a:solidFill>
            <a:srgbClr val="05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0" y="3840480"/>
            <a:ext cx="5029200" cy="1828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840480"/>
            <a:ext cx="50292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114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D4AF37"/>
                </a:solidFill>
                <a:latin typeface="Calibri"/>
              </a:defRPr>
            </a:pPr>
            <a:r>
              <a:t>Ineffiziente Abläufe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66344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8C5D3"/>
                </a:solidFill>
                <a:latin typeface="Calibri"/>
              </a:defRPr>
            </a:pPr>
            <a:r>
              <a:t>30 Tage Wartezeit, 2,5h tägliche Leerlaufzeit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035040"/>
            <a:ext cx="3657600" cy="640080"/>
          </a:xfrm>
          <a:prstGeom prst="rect">
            <a:avLst/>
          </a:prstGeom>
          <a:solidFill>
            <a:srgbClr val="05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943600"/>
            <a:ext cx="3657600" cy="64008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6035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C1929"/>
                </a:solidFill>
                <a:latin typeface="Calibri"/>
              </a:defRPr>
            </a:pPr>
            <a:r>
              <a:t>2,5 Stunden Leerlaufzeit / Tag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02  DIE ZUKUNFT MIT DER FAHRERSOFTWARE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755648"/>
            <a:ext cx="109728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6459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Synergien zwischen allen Fahrdiensten gruppenübergreifend nutzen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532888"/>
            <a:ext cx="109728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231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Effizienz innerhalb der Teams steigern ohne neues Personal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310128"/>
            <a:ext cx="109728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2004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KPIs sichtbar machen für optimalen Fahrereinsatz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087368"/>
            <a:ext cx="109728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977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Transparente Abrechnungen aller Fahrdienstleister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864608"/>
            <a:ext cx="109728" cy="10972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7548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Professioneller Auftritt vor dem Kunden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1463040"/>
            <a:ext cx="4389120" cy="4754880"/>
          </a:xfrm>
          <a:prstGeom prst="rect">
            <a:avLst/>
          </a:prstGeom>
          <a:solidFill>
            <a:srgbClr val="05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0" y="1371600"/>
            <a:ext cx="4389120" cy="47548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0" y="1371600"/>
            <a:ext cx="438912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Calibri"/>
              </a:defRPr>
            </a:pPr>
            <a:r>
              <a:t>EINSPARPOTENTIAL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286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Calibri Light"/>
              </a:defRPr>
            </a:pPr>
            <a:r>
              <a:t>260.000 €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8C5D3"/>
                </a:solidFill>
                <a:latin typeface="Calibri"/>
              </a:defRPr>
            </a:pPr>
            <a:r>
              <a:t>pro Jahr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80960" y="3749039"/>
            <a:ext cx="3474720" cy="18288"/>
          </a:xfrm>
          <a:prstGeom prst="rect">
            <a:avLst/>
          </a:prstGeom>
          <a:solidFill>
            <a:srgbClr val="2D4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40233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F37"/>
                </a:solidFill>
                <a:latin typeface="Calibri"/>
              </a:defRPr>
            </a:pPr>
            <a:r>
              <a:t>8.000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40690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C5D3"/>
                </a:solidFill>
                <a:latin typeface="Calibri"/>
              </a:defRPr>
            </a:pPr>
            <a:r>
              <a:t>Stunden / Jahr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46634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F3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47091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C5D3"/>
                </a:solidFill>
                <a:latin typeface="Calibri"/>
              </a:defRPr>
            </a:pPr>
            <a:r>
              <a:t>Mitarbeiter Äquivalent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3035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F37"/>
                </a:solidFill>
                <a:latin typeface="Calibri"/>
              </a:defRPr>
            </a:pPr>
            <a:r>
              <a:t>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53492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8C5D3"/>
                </a:solidFill>
                <a:latin typeface="Calibri"/>
              </a:defRPr>
            </a:pPr>
            <a:r>
              <a:t>Zeitersparnis / Fahrzeug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03  MVP HIGHLIGHTS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1444752"/>
            <a:ext cx="3474720" cy="2194560"/>
          </a:xfrm>
          <a:prstGeom prst="rect">
            <a:avLst/>
          </a:prstGeom>
          <a:solidFill>
            <a:srgbClr val="05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3474720" cy="2194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347472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Calibri"/>
              </a:defRPr>
            </a:pPr>
            <a:r>
              <a:t>Planungsalgorithmus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8C5D3"/>
                </a:solidFill>
                <a:latin typeface="Calibri"/>
              </a:defRPr>
            </a:pPr>
            <a:r>
              <a:t>Automatisierte Tagesplanung</a:t>
            </a:r>
            <a:br/>
            <a:r>
              <a:t>Kostenoptimierung</a:t>
            </a:r>
            <a:br/>
            <a:r>
              <a:t>Interne Fahrer priorisieren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99432" y="1444752"/>
            <a:ext cx="3474720" cy="2194560"/>
          </a:xfrm>
          <a:prstGeom prst="rect">
            <a:avLst/>
          </a:prstGeom>
          <a:solidFill>
            <a:srgbClr val="05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371600"/>
            <a:ext cx="3474720" cy="2194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371600"/>
            <a:ext cx="347472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Calibri"/>
              </a:defRPr>
            </a:pPr>
            <a:r>
              <a:t>Fahrer-App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0574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8C5D3"/>
                </a:solidFill>
                <a:latin typeface="Calibri"/>
              </a:defRPr>
            </a:pPr>
            <a:r>
              <a:t>Tages-/Wochenübersicht</a:t>
            </a:r>
            <a:br/>
            <a:r>
              <a:t>Digitale Protokolle</a:t>
            </a:r>
            <a:br/>
            <a:r>
              <a:t>Offline-fähig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94192" y="1444752"/>
            <a:ext cx="3474720" cy="2194560"/>
          </a:xfrm>
          <a:prstGeom prst="rect">
            <a:avLst/>
          </a:prstGeom>
          <a:solidFill>
            <a:srgbClr val="05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1371600"/>
            <a:ext cx="3474720" cy="2194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371600"/>
            <a:ext cx="347472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6002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Calibri"/>
              </a:defRPr>
            </a:pPr>
            <a:r>
              <a:t>Web-Backoffice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20574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8C5D3"/>
                </a:solidFill>
                <a:latin typeface="Calibri"/>
              </a:defRPr>
            </a:pPr>
            <a:r>
              <a:t>Disposition &amp; Planung</a:t>
            </a:r>
            <a:br/>
            <a:r>
              <a:t>Fahrtenliste &amp; Kalender</a:t>
            </a:r>
            <a:br/>
            <a:r>
              <a:t>Live-Monitoring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" y="3959352"/>
            <a:ext cx="3474720" cy="2194560"/>
          </a:xfrm>
          <a:prstGeom prst="rect">
            <a:avLst/>
          </a:prstGeom>
          <a:solidFill>
            <a:srgbClr val="05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886200"/>
            <a:ext cx="3474720" cy="2194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886200"/>
            <a:ext cx="347472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114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Calibri"/>
              </a:defRPr>
            </a:pPr>
            <a:r>
              <a:t>Externe Dienstleister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572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8C5D3"/>
                </a:solidFill>
                <a:latin typeface="Calibri"/>
              </a:defRPr>
            </a:pPr>
            <a:r>
              <a:t>Zuweisung &amp; Annahme</a:t>
            </a:r>
            <a:br/>
            <a:r>
              <a:t>Kostenerfassung</a:t>
            </a:r>
            <a:br/>
            <a:r>
              <a:t>Portalzugang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99432" y="3959352"/>
            <a:ext cx="3474720" cy="2194560"/>
          </a:xfrm>
          <a:prstGeom prst="rect">
            <a:avLst/>
          </a:prstGeom>
          <a:solidFill>
            <a:srgbClr val="05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26280" y="3886200"/>
            <a:ext cx="3474720" cy="2194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26280" y="3886200"/>
            <a:ext cx="347472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4114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Calibri"/>
              </a:defRPr>
            </a:pPr>
            <a:r>
              <a:t>Monitoring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4572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8C5D3"/>
                </a:solidFill>
                <a:latin typeface="Calibri"/>
              </a:defRPr>
            </a:pPr>
            <a:r>
              <a:t>Live-Status</a:t>
            </a:r>
            <a:br/>
            <a:r>
              <a:t>Benachrichtigungen</a:t>
            </a:r>
            <a:br/>
            <a:r>
              <a:t>Änderungshistorie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94192" y="3959352"/>
            <a:ext cx="3474720" cy="2194560"/>
          </a:xfrm>
          <a:prstGeom prst="rect">
            <a:avLst/>
          </a:prstGeom>
          <a:solidFill>
            <a:srgbClr val="05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40" y="3886200"/>
            <a:ext cx="3474720" cy="2194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21040" y="3886200"/>
            <a:ext cx="347472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40" y="4114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4AF37"/>
                </a:solidFill>
                <a:latin typeface="Calibri"/>
              </a:defRPr>
            </a:pPr>
            <a:r>
              <a:t>Reporting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45720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8C5D3"/>
                </a:solidFill>
                <a:latin typeface="Calibri"/>
              </a:defRPr>
            </a:pPr>
            <a:r>
              <a:t>Auslastungsanalyse</a:t>
            </a:r>
            <a:br/>
            <a:r>
              <a:t>Kostenauswertung</a:t>
            </a:r>
            <a:br/>
            <a:r>
              <a:t>Excel-Export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21000000">
            <a:off x="-2743200" y="4572000"/>
            <a:ext cx="9144000" cy="2743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66590" y="2194560"/>
            <a:ext cx="3657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 Light"/>
              </a:defRPr>
            </a:pPr>
            <a:r>
              <a:t>VIELEN DANK</a:t>
            </a:r>
          </a:p>
        </p:txBody>
      </p:sp>
      <p:sp>
        <p:nvSpPr>
          <p:cNvPr id="6" name="Rectangle 5"/>
          <p:cNvSpPr/>
          <p:nvPr/>
        </p:nvSpPr>
        <p:spPr>
          <a:xfrm>
            <a:off x="5180990" y="3383280"/>
            <a:ext cx="1828800" cy="18288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38404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C5D3"/>
                </a:solidFill>
                <a:latin typeface="Calibri"/>
              </a:defRPr>
            </a:pPr>
            <a:r>
              <a:t>Effizienzsteigerung durch Automatisierung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42976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C5D3"/>
                </a:solidFill>
                <a:latin typeface="Calibri"/>
              </a:defRPr>
            </a:pPr>
            <a:r>
              <a:t>Gruppenübergreifende Synergien nutzen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8C5D3"/>
                </a:solidFill>
                <a:latin typeface="Calibri"/>
              </a:defRPr>
            </a:pPr>
            <a:r>
              <a:t>260.000 € Einsparpotential pro Jahr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830" y="5577840"/>
            <a:ext cx="4572000" cy="731520"/>
          </a:xfrm>
          <a:prstGeom prst="rect">
            <a:avLst/>
          </a:prstGeom>
          <a:solidFill>
            <a:srgbClr val="050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09390" y="5486400"/>
            <a:ext cx="4572000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09390" y="5486400"/>
            <a:ext cx="4572000" cy="457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09390" y="5669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F37"/>
                </a:solidFill>
                <a:latin typeface="Calibri"/>
              </a:defRPr>
            </a:pPr>
            <a:r>
              <a:t>AVEMO GROUP | FAHRERSOFTWARE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