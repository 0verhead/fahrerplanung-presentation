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AVEMO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1A1A1A"/>
                </a:solidFill>
                <a:latin typeface="Segoe UI Light"/>
              </a:defRPr>
            </a:pPr>
            <a:r>
              <a:t>Fahrersoftware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371600" cy="5486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17171"/>
                </a:solidFill>
                <a:latin typeface="Segoe UI"/>
              </a:defRPr>
            </a:pPr>
            <a:r>
              <a:t>Vorstellung in der Geschäftsführerrunde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17171"/>
                </a:solidFill>
                <a:latin typeface="Segoe UI Light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Segoe UI"/>
              </a:defRPr>
            </a:pPr>
            <a:r>
              <a:t>Aktuelle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949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" cy="2011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1A"/>
                </a:solidFill>
                <a:latin typeface="Segoe UI"/>
              </a:defRPr>
            </a:pPr>
            <a:r>
              <a:t>Isolierte Standorte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1"/>
                </a:solidFill>
                <a:latin typeface="Segoe UI"/>
              </a:defRPr>
            </a:pPr>
            <a:r>
              <a:t>Keine Synergien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3949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" cy="2011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1A"/>
                </a:solidFill>
                <a:latin typeface="Segoe UI"/>
              </a:defRPr>
            </a:pPr>
            <a:r>
              <a:t>Manuelle Prozesse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659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1"/>
                </a:solidFill>
                <a:latin typeface="Segoe UI"/>
              </a:defRPr>
            </a:pPr>
            <a:r>
              <a:t>Excel &amp; Outlook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53949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54864" cy="2011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1A"/>
                </a:solidFill>
                <a:latin typeface="Segoe UI"/>
              </a:defRPr>
            </a:pPr>
            <a:r>
              <a:t>Fehlende KPIs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1"/>
                </a:solidFill>
                <a:latin typeface="Segoe UI"/>
              </a:defRPr>
            </a:pPr>
            <a:r>
              <a:t>Bauchgefühl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566160"/>
            <a:ext cx="53949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566160"/>
            <a:ext cx="54864" cy="2011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794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1A"/>
                </a:solidFill>
                <a:latin typeface="Segoe UI"/>
              </a:defRPr>
            </a:pPr>
            <a:r>
              <a:t>Ineffizienz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519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1"/>
                </a:solidFill>
                <a:latin typeface="Segoe UI"/>
              </a:defRPr>
            </a:pPr>
            <a:r>
              <a:t>2,5h Leerlauf/Tag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943600"/>
            <a:ext cx="41148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0167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2,5h Leerlauf  •  30 Tage Wartezeit  •  0 KPIs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17171"/>
                </a:solidFill>
                <a:latin typeface="Segoe UI Light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Segoe UI"/>
              </a:defRPr>
            </a:pPr>
            <a:r>
              <a:t>Die Zukunft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73152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Segoe UI"/>
              </a:defRPr>
            </a:pPr>
            <a:r>
              <a:t>Synergien nutzen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39112"/>
            <a:ext cx="73152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Segoe UI"/>
              </a:defRPr>
            </a:pPr>
            <a:r>
              <a:t>Effizienz steigern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16352"/>
            <a:ext cx="73152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Segoe UI"/>
              </a:defRPr>
            </a:pPr>
            <a:r>
              <a:t>KPIs sichtbar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93592"/>
            <a:ext cx="73152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Segoe UI"/>
              </a:defRPr>
            </a:pPr>
            <a:r>
              <a:t>Automatisierung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70832"/>
            <a:ext cx="73152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Segoe UI"/>
              </a:defRPr>
            </a:pPr>
            <a:r>
              <a:t>Professionalität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005840"/>
            <a:ext cx="530352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005840"/>
            <a:ext cx="5303520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17171"/>
                </a:solidFill>
                <a:latin typeface="Segoe UI"/>
              </a:defRPr>
            </a:pPr>
            <a:r>
              <a:t>Einsparpotential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A1A1A"/>
                </a:solidFill>
                <a:latin typeface="Segoe UI Light"/>
              </a:defRPr>
            </a:pPr>
            <a:r>
              <a:t>260.000 €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17171"/>
                </a:solidFill>
                <a:latin typeface="Segoe UI"/>
              </a:defRPr>
            </a:pPr>
            <a:r>
              <a:t>pro Jahr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4747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FD14F"/>
                </a:solidFill>
                <a:latin typeface="Segoe UI"/>
              </a:defRPr>
            </a:pPr>
            <a:r>
              <a:t>8.000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520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1"/>
                </a:solidFill>
                <a:latin typeface="Segoe UI"/>
              </a:defRPr>
            </a:pPr>
            <a:r>
              <a:t>Zeitersparnis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0233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FD14F"/>
                </a:solidFill>
                <a:latin typeface="Segoe UI"/>
              </a:defRPr>
            </a:pPr>
            <a:r>
              <a:t>4 FTE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069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1"/>
                </a:solidFill>
                <a:latin typeface="Segoe UI"/>
              </a:defRPr>
            </a:pPr>
            <a:r>
              <a:t>Äquivalent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572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FD14F"/>
                </a:solidFill>
                <a:latin typeface="Segoe UI"/>
              </a:defRPr>
            </a:pPr>
            <a:r>
              <a:t>1h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617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1"/>
                </a:solidFill>
                <a:latin typeface="Segoe UI"/>
              </a:defRPr>
            </a:pPr>
            <a:r>
              <a:t>pro Fahrzeug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17171"/>
                </a:solidFill>
                <a:latin typeface="Segoe UI Light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Segoe UI"/>
              </a:defRPr>
            </a:pPr>
            <a:r>
              <a:t>MVP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56616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56616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Algorithmus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Tagesplanung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097280"/>
            <a:ext cx="356616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97280"/>
            <a:ext cx="356616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Fahrer-App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916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Protokolle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097280"/>
            <a:ext cx="356616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097280"/>
            <a:ext cx="356616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Backoffice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6916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Disposition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356616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66160"/>
            <a:ext cx="356616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49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Dienstleister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605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Portal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566160"/>
            <a:ext cx="356616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566160"/>
            <a:ext cx="356616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749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1605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566160"/>
            <a:ext cx="356616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566160"/>
            <a:ext cx="356616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749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Reporting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605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A1A1A"/>
                </a:solidFill>
                <a:latin typeface="Segoe UI Light"/>
              </a:defRPr>
            </a:pPr>
            <a:r>
              <a:t>Vielen Dank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0990" y="3200400"/>
            <a:ext cx="1828800" cy="45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17171"/>
                </a:solidFill>
                <a:latin typeface="Segoe UI"/>
              </a:defRPr>
            </a:pPr>
            <a:r>
              <a:t>AVEMO GROUP  •  Fahrersoftware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