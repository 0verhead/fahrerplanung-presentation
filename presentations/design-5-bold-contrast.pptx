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095" y="0"/>
            <a:ext cx="3657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 Black"/>
              </a:defRPr>
            </a:pPr>
            <a:r>
              <a:t>FAHRER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0066FF"/>
                </a:solidFill>
                <a:latin typeface="Arial Black"/>
              </a:defRPr>
            </a:pPr>
            <a:r>
              <a:t>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27432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17171"/>
                </a:solidFill>
                <a:latin typeface="Arial"/>
              </a:defRPr>
            </a:pPr>
            <a:r>
              <a:t>Vorstellung in der</a:t>
            </a:r>
            <a:br/>
            <a:r>
              <a:t>Geschäftsführerrunde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 Black"/>
              </a:defRPr>
            </a:pPr>
            <a:r>
              <a:t>AVEMO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17171"/>
                </a:solidFill>
                <a:latin typeface="Arial"/>
              </a:defRPr>
            </a:pPr>
            <a:r>
              <a:t>GROUP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3657600"/>
            <a:ext cx="91440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66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AKTUELLE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1737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KEINE SYNERGIEN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1"/>
                </a:solidFill>
                <a:latin typeface="Arial"/>
              </a:defRPr>
            </a:pPr>
            <a:r>
              <a:t>Jeder Standort arbeitet isoliert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303520" cy="1737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MANUELLE PROZESSE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1"/>
                </a:solidFill>
                <a:latin typeface="Arial"/>
              </a:defRPr>
            </a:pPr>
            <a:r>
              <a:t>Excel-Listen, Outlook-Einplanung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5303520" cy="1737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KEINE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1"/>
                </a:solidFill>
                <a:latin typeface="Arial"/>
              </a:defRPr>
            </a:pPr>
            <a:r>
              <a:t>Kein Reporting, nur Bauchgefühl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840480"/>
            <a:ext cx="5303520" cy="1737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30 TAGE WARTEZEIT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663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1"/>
                </a:solidFill>
                <a:latin typeface="Arial"/>
              </a:defRPr>
            </a:pPr>
            <a:r>
              <a:t>Bis zur Fahrzeugauslieferung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852160"/>
            <a:ext cx="4572000" cy="7315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989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 Black"/>
              </a:defRPr>
            </a:pPr>
            <a:r>
              <a:t>2,5h LEERLAUFZEIT / TAG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66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DIE ZUKUNFT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82880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137160" cy="137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Synergien gruppenübergreifend nutzen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137160" cy="137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Effizienz der Teams steigern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94760"/>
            <a:ext cx="137160" cy="137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KPIs sichtbar machen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26280"/>
            <a:ext cx="137160" cy="137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Kosten transparent senken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57800"/>
            <a:ext cx="137160" cy="137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20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t>Professioneller Kundenauftritt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914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17171"/>
                </a:solidFill>
                <a:latin typeface="Arial Black"/>
              </a:defRPr>
            </a:pPr>
            <a:r>
              <a:t>EINSPAR-</a:t>
            </a:r>
            <a:br/>
            <a:r>
              <a:t>POTENTIAL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860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 Black"/>
              </a:defRPr>
            </a:pPr>
            <a:r>
              <a:t>260.000 €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474720"/>
            <a:ext cx="2743200" cy="457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7490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17171"/>
                </a:solidFill>
                <a:latin typeface="Arial"/>
              </a:defRPr>
            </a:pPr>
            <a:r>
              <a:t>pro Jahr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572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1"/>
                </a:solidFill>
                <a:latin typeface="Arial"/>
              </a:defRPr>
            </a:pPr>
            <a:r>
              <a:t>8.000 Stunden</a:t>
            </a:r>
            <a:br/>
            <a:r>
              <a:t>4 Mitarbeiter</a:t>
            </a:r>
            <a:br/>
            <a:r>
              <a:t>1h pro Fahrzeug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66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MVP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566160" cy="2286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 Black"/>
              </a:defRPr>
            </a:pPr>
            <a:r>
              <a:t>PLANUNGS-</a:t>
            </a:r>
            <a:br/>
            <a:r>
              <a:t>ALGORITHMUS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Automatisierte Optimierung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Arial Black"/>
              </a:defRPr>
            </a:pPr>
            <a:r>
              <a:t>FAHRER-</a:t>
            </a:r>
            <a:br/>
            <a:r>
              <a:t>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Arial"/>
              </a:defRPr>
            </a:pPr>
            <a:r>
              <a:t>Digitale Protokolle, Offline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46304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Arial Black"/>
              </a:defRPr>
            </a:pPr>
            <a:r>
              <a:t>WEB-</a:t>
            </a:r>
            <a:br/>
            <a:r>
              <a:t>BACKOFFICE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Arial"/>
              </a:defRPr>
            </a:pPr>
            <a:r>
              <a:t>Disposition &amp; Monitoring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Arial Black"/>
              </a:defRPr>
            </a:pPr>
            <a:r>
              <a:t>EXTERNE</a:t>
            </a:r>
            <a:br/>
            <a:r>
              <a:t>DIENSTLEISTER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486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Arial"/>
              </a:defRPr>
            </a:pPr>
            <a:r>
              <a:t>Portal &amp; Zuweisung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02336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Arial Black"/>
              </a:defRPr>
            </a:pPr>
            <a:r>
              <a:t>LIVE</a:t>
            </a:r>
            <a:br/>
            <a:r>
              <a:t>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5486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Arial"/>
              </a:defRPr>
            </a:pPr>
            <a:r>
              <a:t>Status &amp; Alerts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023360"/>
            <a:ext cx="3566160" cy="2286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4297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 Black"/>
              </a:defRPr>
            </a:pPr>
            <a:r>
              <a:t>REPORTING</a:t>
            </a:r>
            <a:br/>
            <a:r>
              <a:t>&amp;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486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Analytics &amp;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Arial Black"/>
              </a:defRPr>
            </a:pPr>
            <a:r>
              <a:t>VIELEN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0066FF"/>
                </a:solidFill>
                <a:latin typeface="Arial Black"/>
              </a:defRPr>
            </a:pPr>
            <a:r>
              <a:t>DANK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6590" y="4206240"/>
            <a:ext cx="365760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7171"/>
                </a:solidFill>
                <a:latin typeface="Arial"/>
              </a:defRPr>
            </a:pPr>
            <a:r>
              <a:t>Automatisierung schafft Effizienz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7171"/>
                </a:solidFill>
                <a:latin typeface="Arial"/>
              </a:defRPr>
            </a:pPr>
            <a:r>
              <a:t>Synergien gruppenübergreifend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3949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7171"/>
                </a:solidFill>
                <a:latin typeface="Arial"/>
              </a:defRPr>
            </a:pPr>
            <a:r>
              <a:t>260.000 € Einsparpotential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rial Black"/>
              </a:defRPr>
            </a:pPr>
            <a:r>
              <a:t>AVEMO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