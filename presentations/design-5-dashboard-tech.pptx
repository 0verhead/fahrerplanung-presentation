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6888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9184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3776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5256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87552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69848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521440" y="0"/>
            <a:ext cx="9144" cy="6858000"/>
          </a:xfrm>
          <a:prstGeom prst="rect">
            <a:avLst/>
          </a:prstGeom>
          <a:solidFill>
            <a:srgbClr val="1A1F2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1371600"/>
            <a:ext cx="10058400" cy="4114800"/>
          </a:xfrm>
          <a:prstGeom prst="roundRect">
            <a:avLst/>
          </a:prstGeom>
          <a:solidFill>
            <a:srgbClr val="111827">
              <a:alpha val="80000"/>
            </a:srgbClr>
          </a:solidFill>
          <a:ln w="2540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1371600"/>
            <a:ext cx="182880" cy="4114800"/>
          </a:xfrm>
          <a:prstGeom prst="rect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t>Fahrersoftware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8A9AB0"/>
                </a:solidFill>
                <a:latin typeface="Arial"/>
              </a:defRPr>
            </a:pPr>
            <a:r>
              <a:t>Die Zukunft der Fahrzeugdisposition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932"/>
                </a:solidFill>
                <a:latin typeface="Arial"/>
              </a:defRPr>
            </a:pPr>
            <a:r>
              <a:t>Eine Software für alle Standorte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669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7932"/>
                </a:solidFill>
                <a:latin typeface="Arial"/>
              </a:defRPr>
            </a:pPr>
            <a:r>
              <a:t>260K€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0"/>
                </a:solidFill>
                <a:latin typeface="Arial"/>
              </a:defRPr>
            </a:pPr>
            <a:r>
              <a:t>Einsparung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669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7932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0"/>
                </a:solidFill>
                <a:latin typeface="Arial"/>
              </a:defRPr>
            </a:pPr>
            <a:r>
              <a:t>Tage gespart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669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7932"/>
                </a:solidFill>
                <a:latin typeface="Arial"/>
              </a:defRPr>
            </a:pPr>
            <a:r>
              <a:t>2.5h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217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0"/>
                </a:solidFill>
                <a:latin typeface="Arial"/>
              </a:defRPr>
            </a:pPr>
            <a:r>
              <a:t>Weniger Leerlauf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932"/>
                </a:solidFill>
                <a:latin typeface="Arial"/>
              </a:defRPr>
            </a:pPr>
            <a:r>
              <a:t>SYSTEM STATUS: PROBLEME ERKANNT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Standorte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Isoliert</a:t>
            </a:r>
          </a:p>
        </p:txBody>
      </p:sp>
      <p:sp>
        <p:nvSpPr>
          <p:cNvPr id="9" name="Oval 8"/>
          <p:cNvSpPr/>
          <p:nvPr/>
        </p:nvSpPr>
        <p:spPr>
          <a:xfrm>
            <a:off x="4846320" y="1737360"/>
            <a:ext cx="457200" cy="45720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7932"/>
                </a:solidFill>
                <a:latin typeface="Arial"/>
              </a:defRPr>
            </a:pPr>
            <a:r>
              <a:t>CRITICAL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0292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Prozesse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Manuell</a:t>
            </a:r>
          </a:p>
        </p:txBody>
      </p:sp>
      <p:sp>
        <p:nvSpPr>
          <p:cNvPr id="15" name="Oval 14"/>
          <p:cNvSpPr/>
          <p:nvPr/>
        </p:nvSpPr>
        <p:spPr>
          <a:xfrm>
            <a:off x="10332720" y="173736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C107"/>
                </a:solidFill>
                <a:latin typeface="Arial"/>
              </a:defRPr>
            </a:pPr>
            <a:r>
              <a:t>WARNING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0292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Leerlauf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2.5h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Pro Tag</a:t>
            </a:r>
          </a:p>
        </p:txBody>
      </p:sp>
      <p:sp>
        <p:nvSpPr>
          <p:cNvPr id="21" name="Oval 20"/>
          <p:cNvSpPr/>
          <p:nvPr/>
        </p:nvSpPr>
        <p:spPr>
          <a:xfrm>
            <a:off x="4846320" y="429768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846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C107"/>
                </a:solidFill>
                <a:latin typeface="Arial"/>
              </a:defRPr>
            </a:pPr>
            <a:r>
              <a:t>WARNING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23360"/>
            <a:ext cx="5029200" cy="21945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Wartezeit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663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Tage</a:t>
            </a:r>
          </a:p>
        </p:txBody>
      </p:sp>
      <p:sp>
        <p:nvSpPr>
          <p:cNvPr id="27" name="Oval 26"/>
          <p:cNvSpPr/>
          <p:nvPr/>
        </p:nvSpPr>
        <p:spPr>
          <a:xfrm>
            <a:off x="10332720" y="4297680"/>
            <a:ext cx="457200" cy="45720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4846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7932"/>
                </a:solidFill>
                <a:latin typeface="Arial"/>
              </a:defRPr>
            </a:pPr>
            <a:r>
              <a:t>CRITICAL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932"/>
                </a:solidFill>
                <a:latin typeface="Arial"/>
              </a:defRPr>
            </a:pPr>
            <a:r>
              <a:t>SYSTEM UPGRADE: LÖSUNG BEREIT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493776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Eine Software für alle Standorte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2788920"/>
            <a:ext cx="274320" cy="27432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932"/>
                </a:solidFill>
                <a:latin typeface="Arial"/>
              </a:defRPr>
            </a:pPr>
            <a:r>
              <a:t>Synergien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Vernetzung aller Standorte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3611880"/>
            <a:ext cx="274320" cy="27432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932"/>
                </a:solidFill>
                <a:latin typeface="Arial"/>
              </a:defRPr>
            </a:pPr>
            <a:r>
              <a:t>Effizienz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Optimale Nutzung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434840"/>
            <a:ext cx="274320" cy="27432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932"/>
                </a:solidFill>
                <a:latin typeface="Arial"/>
              </a:defRPr>
            </a:pPr>
            <a:r>
              <a:t>Automatisierung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389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Weniger manuelle Arbeit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5257800"/>
            <a:ext cx="274320" cy="274320"/>
          </a:xfrm>
          <a:prstGeom prst="ellipse">
            <a:avLst/>
          </a:prstGeom>
          <a:solidFill>
            <a:srgbClr val="FF7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5212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932"/>
                </a:solidFill>
                <a:latin typeface="Arial"/>
              </a:defRPr>
            </a:pPr>
            <a:r>
              <a:t>Einsparung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260.000 € jährlich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463040"/>
            <a:ext cx="4114800" cy="4937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737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7932"/>
                </a:solidFill>
                <a:latin typeface="Arial"/>
              </a:defRPr>
            </a:pPr>
            <a:r>
              <a:t>PROJEKTIERTE METRIKEN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&lt; 12 Monate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Effizienz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749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+ 40%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Transparenz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754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0"/>
                </a:solidFill>
                <a:latin typeface="Arial"/>
              </a:defRPr>
            </a:pPr>
            <a:r>
              <a:t>Standorte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5760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rial"/>
              </a:defRPr>
            </a:pPr>
            <a:r>
              <a:t>Verbindung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932"/>
                </a:solidFill>
                <a:latin typeface="Arial"/>
              </a:defRPr>
            </a:pPr>
            <a:r>
              <a:t>MODULE: MINIMUM VIABLE PRODUCT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932"/>
                </a:solidFill>
                <a:latin typeface="Arial"/>
              </a:defRPr>
            </a:pPr>
            <a:r>
              <a:t>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Planungs-Engine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B0"/>
                </a:solidFill>
                <a:latin typeface="Arial"/>
              </a:defRPr>
            </a:pPr>
            <a:r>
              <a:t>M01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47472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932"/>
                </a:solidFill>
                <a:latin typeface="Arial"/>
              </a:defRPr>
            </a:pPr>
            <a:r>
              <a:t>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194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Driver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59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B0"/>
                </a:solidFill>
                <a:latin typeface="Arial"/>
              </a:defRPr>
            </a:pPr>
            <a:r>
              <a:t>M02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63040"/>
            <a:ext cx="347472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932"/>
                </a:solidFill>
                <a:latin typeface="Arial"/>
              </a:defRPr>
            </a:pPr>
            <a:r>
              <a:t>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945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Backoffice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B0"/>
                </a:solidFill>
                <a:latin typeface="Arial"/>
              </a:defRPr>
            </a:pPr>
            <a:r>
              <a:t>M03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47472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932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Externe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760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B0"/>
                </a:solidFill>
                <a:latin typeface="Arial"/>
              </a:defRPr>
            </a:pPr>
            <a:r>
              <a:t>M04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47472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932"/>
                </a:solidFill>
                <a:latin typeface="Arial"/>
              </a:defRPr>
            </a:pPr>
            <a:r>
              <a:t>MONITOR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4754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Live-Dashboard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5760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B0"/>
                </a:solidFill>
                <a:latin typeface="Arial"/>
              </a:defRPr>
            </a:pPr>
            <a:r>
              <a:t>M05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474720" cy="2194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7932"/>
                </a:solidFill>
                <a:latin typeface="Arial"/>
              </a:defRPr>
            </a:pPr>
            <a:r>
              <a:t>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7548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Arial"/>
              </a:defRPr>
            </a:pPr>
            <a: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5760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AB0"/>
                </a:solidFill>
                <a:latin typeface="Arial"/>
              </a:defRPr>
            </a:pPr>
            <a:r>
              <a:t>M06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03920" cy="4114800"/>
          </a:xfrm>
          <a:prstGeom prst="roundRect">
            <a:avLst/>
          </a:prstGeom>
          <a:solidFill>
            <a:srgbClr val="111827"/>
          </a:solidFill>
          <a:ln w="3810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10512" y="1353312"/>
            <a:ext cx="8540496" cy="4151376"/>
          </a:xfrm>
          <a:prstGeom prst="roundRect">
            <a:avLst/>
          </a:prstGeom>
          <a:noFill/>
          <a:ln w="1270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92224" y="1335024"/>
            <a:ext cx="8577072" cy="4187952"/>
          </a:xfrm>
          <a:prstGeom prst="roundRect">
            <a:avLst/>
          </a:prstGeom>
          <a:noFill/>
          <a:ln w="12700">
            <a:solidFill>
              <a:srgbClr val="FF7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7932"/>
                </a:solidFill>
                <a:latin typeface="Arial"/>
              </a:defRPr>
            </a:pPr>
            <a:r>
              <a:t>SYSTEM 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Bereit für die Zukunft?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AB0"/>
                </a:solidFill>
                <a:latin typeface="Arial"/>
              </a:defRPr>
            </a:pPr>
            <a:r>
              <a:t>Gemeinsam transformieren wir Ihre Fahrzeugdisposition.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