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B4E6"/>
                </a:solidFill>
                <a:latin typeface="Segoe UI"/>
              </a:defRPr>
            </a:pPr>
            <a:r>
              <a:t>AVEMO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Segoe UI Light"/>
              </a:defRPr>
            </a:pPr>
            <a:r>
              <a:t>Fahrer-</a:t>
            </a:r>
            <a:br/>
            <a:r>
              <a:t>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371600" cy="4572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7171"/>
                </a:solidFill>
                <a:latin typeface="Segoe UI"/>
              </a:defRPr>
            </a:pPr>
            <a:r>
              <a:t>Vorstellung in der</a:t>
            </a:r>
            <a:br/>
            <a:r>
              <a:t>Geschäftsführerrunde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Segoe UI Light"/>
              </a:defRPr>
            </a:pPr>
            <a:r>
              <a:t>260.000 €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1"/>
                </a:solidFill>
                <a:latin typeface="Segoe UI"/>
              </a:defRPr>
            </a:pPr>
            <a:r>
              <a:t>Einsparpotential pro Jahr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657600"/>
            <a:ext cx="2743200" cy="27432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01  Aktuelle Situation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201168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Segoe UI"/>
              </a:defRPr>
            </a:pPr>
            <a:r>
              <a:t>Isolierte Standorte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Segoe UI"/>
              </a:defRPr>
            </a:pPr>
            <a:r>
              <a:t>Keine Synergien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949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201168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Segoe UI"/>
              </a:defRPr>
            </a:pPr>
            <a:r>
              <a:t>Manuelle Prozesse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Segoe UI"/>
              </a:defRPr>
            </a:pPr>
            <a:r>
              <a:t>Excel &amp; Outlook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3949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73152" cy="201168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Segoe UI"/>
              </a:defRPr>
            </a:pPr>
            <a:r>
              <a:t>Keine 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Segoe UI"/>
              </a:defRPr>
            </a:pPr>
            <a:r>
              <a:t>Bauchgefühl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74720"/>
            <a:ext cx="539496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73152" cy="201168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Segoe UI"/>
              </a:defRPr>
            </a:pPr>
            <a:r>
              <a:t>30 Tage Wartezeit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1"/>
                </a:solidFill>
                <a:latin typeface="Segoe UI"/>
              </a:defRPr>
            </a:pPr>
            <a:r>
              <a:t>Ineffizienz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52160"/>
            <a:ext cx="4572000" cy="4572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Segoe UI"/>
              </a:defRPr>
            </a:pPr>
            <a:r>
              <a:t>2,5h Leerlaufzeit pro Tag bei H&amp;B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02  Die Zukunft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  <a:r>
              <a:t>Synergien nutzen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  <a:r>
              <a:t>Effizienz steigern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  <a:r>
              <a:t>KPIs sichtbar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  <a:r>
              <a:t>Automatisierung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Segoe UI"/>
              </a:defRPr>
            </a:pPr>
            <a:r>
              <a:t>Professionalität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Segoe UI Light"/>
              </a:defRPr>
            </a:pPr>
            <a:r>
              <a:t>260.000 €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7171"/>
                </a:solidFill>
                <a:latin typeface="Segoe UI"/>
              </a:defRPr>
            </a:pPr>
            <a:r>
              <a:t>Einsparpotential pro Jahr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474720"/>
            <a:ext cx="2743200" cy="27432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40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8.000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Zeitersparnis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4 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Äquivalent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983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pro Fahrzeug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Segoe UI"/>
              </a:defRPr>
            </a:pPr>
            <a:r>
              <a:t>03  MVP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" cy="219456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Algorithmus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Planung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54864" cy="219456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Fahrer-App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Protokolle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09728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54864" cy="219456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Backoffice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73736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Disposition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54864" cy="219456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Dienstleister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56616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566160"/>
            <a:ext cx="54864" cy="219456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566160"/>
            <a:ext cx="3566160" cy="2194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54864" cy="219456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Segoe UI"/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1"/>
                </a:solidFill>
                <a:latin typeface="Segoe UI"/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 Light"/>
              </a:defRPr>
            </a:pPr>
            <a:r>
              <a:t>Vielen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4BB4E6"/>
                </a:solidFill>
                <a:latin typeface="Segoe UI Light"/>
              </a:defRPr>
            </a:pPr>
            <a:r>
              <a:t>Dank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Segoe UI Light"/>
              </a:defRPr>
            </a:pPr>
            <a:r>
              <a:t>260.000 €</a:t>
            </a:r>
            <a:br/>
            <a:r>
              <a:t>Einsparpotential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1"/>
                </a:solidFill>
                <a:latin typeface="Segoe UI"/>
              </a:defRPr>
            </a:pPr>
            <a:r>
              <a:t>AVEMO  •  Fahrersoftware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